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5oBrjgLoEhm8DXD0EKiLj5QlQ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5F3E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  <a:defRPr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D2B2F"/>
              </a:buClr>
              <a:buSzPts val="1600"/>
              <a:buNone/>
              <a:defRPr sz="16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  <a:defRPr b="0" i="0" sz="3600" u="none" cap="none" strike="noStrike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03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D0C6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8FD0C6"/>
                </a:solidFill>
                <a:latin typeface="Trebuchet MS"/>
                <a:ea typeface="Trebuchet MS"/>
                <a:cs typeface="Trebuchet MS"/>
                <a:sym typeface="Trebuchet MS"/>
              </a:rPr>
              <a:t>DUOC UC · INGENIERÍA INFORMÁTICA · CAPSTONE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348230"/>
            <a:ext cx="10883392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8000"/>
              <a:buFont typeface="Georgia"/>
              <a:buNone/>
            </a:pPr>
            <a:r>
              <a:rPr b="0" i="0" lang="en-US" sz="8000">
                <a:solidFill>
                  <a:srgbClr val="F1EFE8"/>
                </a:solidFill>
                <a:latin typeface="Georgia"/>
                <a:ea typeface="Georgia"/>
                <a:cs typeface="Georgia"/>
                <a:sym typeface="Georgia"/>
              </a:rPr>
              <a:t>LinkCare</a:t>
            </a:r>
            <a:endParaRPr sz="8000"/>
          </a:p>
        </p:txBody>
      </p:sp>
      <p:sp>
        <p:nvSpPr>
          <p:cNvPr id="23" name="Google Shape;23;p1"/>
          <p:cNvSpPr/>
          <p:nvPr/>
        </p:nvSpPr>
        <p:spPr>
          <a:xfrm>
            <a:off x="812800" y="3516630"/>
            <a:ext cx="10883392" cy="75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E4E2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D9E4E2"/>
                </a:solidFill>
                <a:latin typeface="Trebuchet MS"/>
                <a:ea typeface="Trebuchet MS"/>
                <a:cs typeface="Trebuchet MS"/>
                <a:sym typeface="Trebuchet MS"/>
              </a:rPr>
              <a:t>Aplicación móvil para coordinar el cuidado de adultos mayores entre médico, cuidador y familiar</a:t>
            </a:r>
            <a:endParaRPr b="0" i="0" sz="2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511800"/>
            <a:ext cx="10883392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E4E2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D9E4E2"/>
                </a:solidFill>
                <a:latin typeface="Trebuchet MS"/>
                <a:ea typeface="Trebuchet MS"/>
                <a:cs typeface="Trebuchet MS"/>
                <a:sym typeface="Trebuchet MS"/>
              </a:rPr>
              <a:t>Etapa de desarrollo · Andrés Saldívar y Giancarlo Trepiana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E4E2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D9E4E2"/>
                </a:solidFill>
                <a:latin typeface="Trebuchet MS"/>
                <a:ea typeface="Trebuchet MS"/>
                <a:cs typeface="Trebuchet MS"/>
                <a:sym typeface="Trebuchet MS"/>
              </a:rPr>
              <a:t>Profesor guía: Aldo Martínez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El problema: el cuidado está disperso</a:t>
            </a:r>
            <a:endParaRPr sz="3600"/>
          </a:p>
        </p:txBody>
      </p:sp>
      <p:sp>
        <p:nvSpPr>
          <p:cNvPr id="31" name="Google Shape;31;p2"/>
          <p:cNvSpPr/>
          <p:nvPr/>
        </p:nvSpPr>
        <p:spPr>
          <a:xfrm>
            <a:off x="812800" y="1620520"/>
            <a:ext cx="10883392" cy="608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700"/>
              <a:buFont typeface="Trebuchet MS"/>
              <a:buNone/>
            </a:pPr>
            <a:r>
              <a:rPr b="0" i="0" lang="en-US" sz="17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La información sobre un adulto mayor queda repartida entre quienes lo atienden. Eso genera duplicidad, datos omitidos y no se sabe quién hizo qué.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15975" y="2511425"/>
            <a:ext cx="3380400" cy="2420400"/>
          </a:xfrm>
          <a:prstGeom prst="roundRect">
            <a:avLst>
              <a:gd fmla="val 5978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71881" y="2887580"/>
            <a:ext cx="29544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Médico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71881" y="3421478"/>
            <a:ext cx="295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Registra pacientes, prescribe medicamentos y anota observaciones clínicas.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05800" y="2511425"/>
            <a:ext cx="3380400" cy="2420400"/>
          </a:xfrm>
          <a:prstGeom prst="roundRect">
            <a:avLst>
              <a:gd fmla="val 5978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661704" y="2887600"/>
            <a:ext cx="295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Cuidador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661704" y="3421525"/>
            <a:ext cx="29547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Registra que el medicamento fue administrado y anota el cuidado diario.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995675" y="2511425"/>
            <a:ext cx="3380400" cy="2420400"/>
          </a:xfrm>
          <a:prstGeom prst="roundRect">
            <a:avLst>
              <a:gd fmla="val 5978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251581" y="2887600"/>
            <a:ext cx="295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Familiar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51581" y="3421525"/>
            <a:ext cx="29547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Consulta el estado y la información del paciente asociado.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12800" y="6238241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2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Objetivos del proyecto</a:t>
            </a:r>
            <a:endParaRPr sz="3600"/>
          </a:p>
        </p:txBody>
      </p:sp>
      <p:sp>
        <p:nvSpPr>
          <p:cNvPr id="48" name="Google Shape;48;p3"/>
          <p:cNvSpPr/>
          <p:nvPr/>
        </p:nvSpPr>
        <p:spPr>
          <a:xfrm>
            <a:off x="815975" y="1623702"/>
            <a:ext cx="4566900" cy="3639300"/>
          </a:xfrm>
          <a:prstGeom prst="roundRect">
            <a:avLst>
              <a:gd fmla="val 390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071880" y="1993117"/>
            <a:ext cx="4176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071880" y="2517448"/>
            <a:ext cx="41769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Desarrollar LinkCare, una aplicación móvil que centraliza la información del cuidado de adultos mayores y facilita la comunicación entre médico, cuidador y familiar, cada uno con permisos según su rol.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592525" y="1623702"/>
            <a:ext cx="5783400" cy="3639300"/>
          </a:xfrm>
          <a:prstGeom prst="roundRect">
            <a:avLst>
              <a:gd fmla="val 390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848429" y="1993133"/>
            <a:ext cx="5429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899229" y="2517485"/>
            <a:ext cx="5370600" cy="2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AutoNum type="arabicPeriod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Acceso seguro con roles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AutoNum type="arabicPeriod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 de pacientes y sus cuidadores y familiares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AutoNum type="arabicPeriod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Medicamentos: prescripción, consulta y administración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AutoNum type="arabicPeriod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Observaciones clínicas y de cuidado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AutoNum type="arabicPeriod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Validar el funcionamiento con pruebas internas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12800" y="6238241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3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Cómo trabajamos</a:t>
            </a:r>
            <a:endParaRPr sz="3600"/>
          </a:p>
        </p:txBody>
      </p:sp>
      <p:sp>
        <p:nvSpPr>
          <p:cNvPr id="61" name="Google Shape;61;p4"/>
          <p:cNvSpPr/>
          <p:nvPr/>
        </p:nvSpPr>
        <p:spPr>
          <a:xfrm>
            <a:off x="815975" y="1623695"/>
            <a:ext cx="3380264" cy="1826260"/>
          </a:xfrm>
          <a:prstGeom prst="roundRect">
            <a:avLst>
              <a:gd fmla="val 5389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071880" y="1879600"/>
            <a:ext cx="295450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1F8A7D"/>
                </a:solidFill>
                <a:latin typeface="Georgia"/>
                <a:ea typeface="Georgia"/>
                <a:cs typeface="Georgia"/>
                <a:sym typeface="Georgia"/>
              </a:rPr>
              <a:t>31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71880" y="2679700"/>
            <a:ext cx="295450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ítems en el Product Backlog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405789" y="1623695"/>
            <a:ext cx="3380343" cy="1826260"/>
          </a:xfrm>
          <a:prstGeom prst="roundRect">
            <a:avLst>
              <a:gd fmla="val 5389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661694" y="1879600"/>
            <a:ext cx="2954589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1F8A7D"/>
                </a:solidFill>
                <a:latin typeface="Georgia"/>
                <a:ea typeface="Georgia"/>
                <a:cs typeface="Georgia"/>
                <a:sym typeface="Georgia"/>
              </a:rPr>
              <a:t>97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661694" y="2679700"/>
            <a:ext cx="295458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puntos de esfuerzo estimados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995682" y="1623695"/>
            <a:ext cx="3380343" cy="1826260"/>
          </a:xfrm>
          <a:prstGeom prst="roundRect">
            <a:avLst>
              <a:gd fmla="val 5389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251587" y="1879600"/>
            <a:ext cx="2954589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1F8A7D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251587" y="2679700"/>
            <a:ext cx="295458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sprints semanales (semanas 7 a 11)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12800" y="3757930"/>
            <a:ext cx="10883392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Metodología ágil: Product Backlog priorizado y Sprint Backlog. Cada sprint tiene un objetivo claro, dentro de un cronograma de 18 semanas en 3 fases.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15975" y="4580255"/>
            <a:ext cx="2005330" cy="1168400"/>
          </a:xfrm>
          <a:prstGeom prst="roundRect">
            <a:avLst>
              <a:gd fmla="val 842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995680" y="4759961"/>
            <a:ext cx="1696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C97D12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1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995680" y="5123180"/>
            <a:ext cx="1696720" cy="24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Autenticación y roles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954655" y="4580255"/>
            <a:ext cx="2005330" cy="1168400"/>
          </a:xfrm>
          <a:prstGeom prst="roundRect">
            <a:avLst>
              <a:gd fmla="val 842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134360" y="4759961"/>
            <a:ext cx="1696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C97D12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2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134360" y="5123180"/>
            <a:ext cx="1696720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Pacientes y ficha clínica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093335" y="4580255"/>
            <a:ext cx="2005330" cy="1168400"/>
          </a:xfrm>
          <a:prstGeom prst="roundRect">
            <a:avLst>
              <a:gd fmla="val 842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273040" y="4759961"/>
            <a:ext cx="1696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C97D12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3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273040" y="5123180"/>
            <a:ext cx="1696720" cy="24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Medicamentos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232015" y="4580255"/>
            <a:ext cx="2005330" cy="1168400"/>
          </a:xfrm>
          <a:prstGeom prst="roundRect">
            <a:avLst>
              <a:gd fmla="val 842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411720" y="4759961"/>
            <a:ext cx="1696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C97D12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4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411720" y="5123180"/>
            <a:ext cx="1696720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Observaciones e historial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370695" y="4580255"/>
            <a:ext cx="2005330" cy="1168400"/>
          </a:xfrm>
          <a:prstGeom prst="roundRect">
            <a:avLst>
              <a:gd fmla="val 842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550400" y="4759961"/>
            <a:ext cx="1696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C97D12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5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550400" y="5123180"/>
            <a:ext cx="1696720" cy="24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Opcionales y perfil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12800" y="6238239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4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Qué construimos</a:t>
            </a:r>
            <a:endParaRPr sz="3600"/>
          </a:p>
        </p:txBody>
      </p:sp>
      <p:sp>
        <p:nvSpPr>
          <p:cNvPr id="93" name="Google Shape;93;p5"/>
          <p:cNvSpPr/>
          <p:nvPr/>
        </p:nvSpPr>
        <p:spPr>
          <a:xfrm>
            <a:off x="815975" y="1623696"/>
            <a:ext cx="4865370" cy="1389380"/>
          </a:xfrm>
          <a:prstGeom prst="roundRect">
            <a:avLst>
              <a:gd fmla="val 708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71880" y="1879600"/>
            <a:ext cx="448416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App móvil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071880" y="2242821"/>
            <a:ext cx="4484167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Pantallas para cada rol, hecha con React Native (Expo).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12800" y="3168650"/>
            <a:ext cx="5017872" cy="26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↓ se conecta directo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15975" y="3564257"/>
            <a:ext cx="4865370" cy="1389380"/>
          </a:xfrm>
          <a:prstGeom prst="roundRect">
            <a:avLst>
              <a:gd fmla="val 708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071880" y="3820161"/>
            <a:ext cx="448416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Supabase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71880" y="4183382"/>
            <a:ext cx="4484167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Inicio de sesión, base de datos y reglas de acceso según el rol.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92495" y="1623696"/>
            <a:ext cx="5383530" cy="3329940"/>
          </a:xfrm>
          <a:prstGeom prst="roundRect">
            <a:avLst>
              <a:gd fmla="val 2956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248400" y="1879600"/>
            <a:ext cx="5017872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Módulos principales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312400" y="2242826"/>
            <a:ext cx="4946400" cy="20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9992" lvl="0" marL="189992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Trebuchet MS"/>
              <a:buChar char="•"/>
            </a:pPr>
            <a:r>
              <a:rPr b="0" i="0" lang="en-US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Inicio de sesión y roles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9992" lvl="0" marL="189992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Trebuchet MS"/>
              <a:buChar char="•"/>
            </a:pPr>
            <a:r>
              <a:rPr b="0" i="0" lang="en-US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Pacientes y ficha clínica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9992" lvl="0" marL="189992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Trebuchet MS"/>
              <a:buChar char="•"/>
            </a:pPr>
            <a:r>
              <a:rPr b="0" i="0" lang="en-US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Medicamentos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9992" lvl="0" marL="189992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Trebuchet MS"/>
              <a:buChar char="•"/>
            </a:pPr>
            <a:r>
              <a:rPr b="0" i="0" lang="en-US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Observaciones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9992" lvl="0" marL="189992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600"/>
              <a:buFont typeface="Trebuchet MS"/>
              <a:buChar char="•"/>
            </a:pPr>
            <a:r>
              <a:rPr b="0" i="0" lang="en-US" sz="16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Historial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12800" y="5261611"/>
            <a:ext cx="10883392" cy="26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No hay servidor propio: la seguridad se aplica dentro de la base de datos, que guarda 7 tablas de información.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12800" y="6238239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5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Cómo guardamos la información</a:t>
            </a:r>
            <a:endParaRPr sz="3600"/>
          </a:p>
        </p:txBody>
      </p:sp>
      <p:sp>
        <p:nvSpPr>
          <p:cNvPr id="111" name="Google Shape;111;p6"/>
          <p:cNvSpPr/>
          <p:nvPr/>
        </p:nvSpPr>
        <p:spPr>
          <a:xfrm>
            <a:off x="815975" y="1623696"/>
            <a:ext cx="2501900" cy="1442085"/>
          </a:xfrm>
          <a:prstGeom prst="roundRect">
            <a:avLst>
              <a:gd fmla="val 6825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021080" y="1828800"/>
            <a:ext cx="215444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Usuarios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21080" y="2192021"/>
            <a:ext cx="2154441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Médicos, cuidadores y familiares, cada uno con su rol.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502025" y="1623696"/>
            <a:ext cx="2501900" cy="1442085"/>
          </a:xfrm>
          <a:prstGeom prst="roundRect">
            <a:avLst>
              <a:gd fmla="val 6825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707130" y="1828800"/>
            <a:ext cx="215444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Pacientes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707130" y="2192021"/>
            <a:ext cx="2154441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Datos básicos, alergias y contacto de emergencia.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188075" y="1623696"/>
            <a:ext cx="2501900" cy="1442085"/>
          </a:xfrm>
          <a:prstGeom prst="roundRect">
            <a:avLst>
              <a:gd fmla="val 6825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393180" y="1828800"/>
            <a:ext cx="215444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Asociación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393180" y="2192021"/>
            <a:ext cx="2154441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Quién cuida o acompaña a cada paciente.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874125" y="1623696"/>
            <a:ext cx="2501900" cy="1442085"/>
          </a:xfrm>
          <a:prstGeom prst="roundRect">
            <a:avLst>
              <a:gd fmla="val 6825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9079230" y="1828800"/>
            <a:ext cx="215444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Medicamentos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079230" y="2192021"/>
            <a:ext cx="2154441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Prescripciones con dosis, frecuencia e indicaciones.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15975" y="3376932"/>
            <a:ext cx="3397250" cy="1219200"/>
          </a:xfrm>
          <a:prstGeom prst="roundRect">
            <a:avLst>
              <a:gd fmla="val 8073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021080" y="3582036"/>
            <a:ext cx="307665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Administración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21080" y="3945257"/>
            <a:ext cx="3076651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Quién entregó cada medicamento y cuándo.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397375" y="3376932"/>
            <a:ext cx="3397250" cy="1219200"/>
          </a:xfrm>
          <a:prstGeom prst="roundRect">
            <a:avLst>
              <a:gd fmla="val 8073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602480" y="3582036"/>
            <a:ext cx="307665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Observaciones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602480" y="3945257"/>
            <a:ext cx="3076651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Notas clínicas y de cuidado del paciente.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978775" y="3376932"/>
            <a:ext cx="3397250" cy="1219200"/>
          </a:xfrm>
          <a:prstGeom prst="roundRect">
            <a:avLst>
              <a:gd fmla="val 8073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8183880" y="3582036"/>
            <a:ext cx="307665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 de salud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183880" y="3945257"/>
            <a:ext cx="3076651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Mediciones del paciente (funcionalidad propuesta).</a:t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12800" y="6238239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6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Qué puede hacer cada rol</a:t>
            </a:r>
            <a:endParaRPr sz="3600"/>
          </a:p>
        </p:txBody>
      </p:sp>
      <p:sp>
        <p:nvSpPr>
          <p:cNvPr id="139" name="Google Shape;139;p7"/>
          <p:cNvSpPr/>
          <p:nvPr/>
        </p:nvSpPr>
        <p:spPr>
          <a:xfrm>
            <a:off x="815975" y="1623696"/>
            <a:ext cx="3380264" cy="2208530"/>
          </a:xfrm>
          <a:prstGeom prst="roundRect">
            <a:avLst>
              <a:gd fmla="val 4457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071880" y="1879600"/>
            <a:ext cx="295450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Médico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150112" y="2242821"/>
            <a:ext cx="286865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Registrar pacientes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Asociar cuidadores y familiares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Prescribir medicamentos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Anotar observaciones clínicas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405789" y="1623696"/>
            <a:ext cx="3380343" cy="2208530"/>
          </a:xfrm>
          <a:prstGeom prst="roundRect">
            <a:avLst>
              <a:gd fmla="val 4457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661694" y="1879600"/>
            <a:ext cx="29545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Cuidador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739926" y="2242821"/>
            <a:ext cx="2868737" cy="13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Ver los medicamentos vigentes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Marcar un medicamento como administrado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Anotar observaciones de cuidado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995682" y="1623696"/>
            <a:ext cx="3380343" cy="2208530"/>
          </a:xfrm>
          <a:prstGeom prst="roundRect">
            <a:avLst>
              <a:gd fmla="val 4457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251587" y="1879600"/>
            <a:ext cx="29545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Familiar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329819" y="2242821"/>
            <a:ext cx="2868737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Consultar la información del paciente asociado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Char char="•"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Seguir sus observaciones y medicamentos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12800" y="4140200"/>
            <a:ext cx="11379200" cy="26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Los tres inician y cierran sesión y ven un panel según su rol. Son 17 casos de uso; los permisos finales por rol siguen en validación.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12800" y="6238239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7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Cómo se usa la aplicación</a:t>
            </a:r>
            <a:endParaRPr sz="3600"/>
          </a:p>
        </p:txBody>
      </p:sp>
      <p:sp>
        <p:nvSpPr>
          <p:cNvPr id="156" name="Google Shape;156;p8"/>
          <p:cNvSpPr/>
          <p:nvPr/>
        </p:nvSpPr>
        <p:spPr>
          <a:xfrm>
            <a:off x="815975" y="1623696"/>
            <a:ext cx="2501900" cy="2584450"/>
          </a:xfrm>
          <a:prstGeom prst="roundRect">
            <a:avLst>
              <a:gd fmla="val 393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046480" y="1854200"/>
            <a:ext cx="210211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C97D12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046480" y="2654300"/>
            <a:ext cx="210211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Médico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46480" y="3017521"/>
            <a:ext cx="2102117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Registra al paciente y le prescribe un medicamento.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502025" y="1623696"/>
            <a:ext cx="2501900" cy="2584450"/>
          </a:xfrm>
          <a:prstGeom prst="roundRect">
            <a:avLst>
              <a:gd fmla="val 393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732530" y="1854200"/>
            <a:ext cx="210211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C97D12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732530" y="2654300"/>
            <a:ext cx="210211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Cuidador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732530" y="3017521"/>
            <a:ext cx="2102117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Ve los medicamentos vigentes del paciente asociado.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188075" y="1623696"/>
            <a:ext cx="2501900" cy="2584450"/>
          </a:xfrm>
          <a:prstGeom prst="roundRect">
            <a:avLst>
              <a:gd fmla="val 393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418580" y="1854200"/>
            <a:ext cx="210211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C97D1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418580" y="2654300"/>
            <a:ext cx="210211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Cuidador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418580" y="3017521"/>
            <a:ext cx="2102117" cy="50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Marca el medicamento como administrado.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874125" y="1623696"/>
            <a:ext cx="2501900" cy="2584450"/>
          </a:xfrm>
          <a:prstGeom prst="roundRect">
            <a:avLst>
              <a:gd fmla="val 3934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104630" y="1854200"/>
            <a:ext cx="210211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D12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C97D12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104630" y="2654300"/>
            <a:ext cx="2102117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Equipo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104630" y="3017521"/>
            <a:ext cx="2102117" cy="98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Queda registrado quién, cuándo y qué; médico y familiar pueden consultarlo.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12800" y="4516121"/>
            <a:ext cx="10883392" cy="26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Flujo principal del MVP; algunas partes todavía están en desarrollo.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12800" y="6238242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8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578225" y="343650"/>
            <a:ext cx="111180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ct val="1000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Las pantallas principales</a:t>
            </a:r>
            <a:endParaRPr sz="3600"/>
          </a:p>
        </p:txBody>
      </p:sp>
      <p:sp>
        <p:nvSpPr>
          <p:cNvPr id="180" name="Google Shape;180;p9"/>
          <p:cNvSpPr/>
          <p:nvPr/>
        </p:nvSpPr>
        <p:spPr>
          <a:xfrm>
            <a:off x="812800" y="6238242"/>
            <a:ext cx="291388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9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200" y="1424525"/>
            <a:ext cx="1971347" cy="438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-132025" y="871938"/>
            <a:ext cx="2814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 principal equipo </a:t>
            </a:r>
            <a:r>
              <a:rPr lang="en-US" sz="15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médico</a:t>
            </a:r>
            <a:endParaRPr sz="1500">
              <a:solidFill>
                <a:srgbClr val="1D2B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6086" l="0" r="0" t="0"/>
          <a:stretch/>
        </p:blipFill>
        <p:spPr>
          <a:xfrm>
            <a:off x="2549600" y="1424525"/>
            <a:ext cx="2099030" cy="4380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2191950" y="871938"/>
            <a:ext cx="2814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 principal cuidador/familiares</a:t>
            </a:r>
            <a:endParaRPr sz="1500">
              <a:solidFill>
                <a:srgbClr val="1D2B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5" name="Google Shape;185;p9"/>
          <p:cNvPicPr preferRelativeResize="0"/>
          <p:nvPr/>
        </p:nvPicPr>
        <p:blipFill rotWithShape="1">
          <a:blip r:embed="rId5">
            <a:alphaModFix/>
          </a:blip>
          <a:srcRect b="6006" l="0" r="0" t="0"/>
          <a:stretch/>
        </p:blipFill>
        <p:spPr>
          <a:xfrm>
            <a:off x="4884425" y="1424525"/>
            <a:ext cx="2099025" cy="438428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4526788" y="929750"/>
            <a:ext cx="2814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 ingresar paciente</a:t>
            </a:r>
            <a:endParaRPr sz="1500">
              <a:solidFill>
                <a:srgbClr val="1D2B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7" name="Google Shape;187;p9"/>
          <p:cNvPicPr preferRelativeResize="0"/>
          <p:nvPr/>
        </p:nvPicPr>
        <p:blipFill rotWithShape="1">
          <a:blip r:embed="rId6">
            <a:alphaModFix/>
          </a:blip>
          <a:srcRect b="6183" l="0" r="0" t="0"/>
          <a:stretch/>
        </p:blipFill>
        <p:spPr>
          <a:xfrm>
            <a:off x="7219250" y="1428694"/>
            <a:ext cx="2099025" cy="437594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6861613" y="929750"/>
            <a:ext cx="2814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 ficha paciente</a:t>
            </a:r>
            <a:endParaRPr sz="1500">
              <a:solidFill>
                <a:srgbClr val="1D2B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9" name="Google Shape;189;p9"/>
          <p:cNvPicPr preferRelativeResize="0"/>
          <p:nvPr/>
        </p:nvPicPr>
        <p:blipFill rotWithShape="1">
          <a:blip r:embed="rId7">
            <a:alphaModFix/>
          </a:blip>
          <a:srcRect b="5962" l="0" r="0" t="0"/>
          <a:stretch/>
        </p:blipFill>
        <p:spPr>
          <a:xfrm>
            <a:off x="9602000" y="1419000"/>
            <a:ext cx="2099025" cy="43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9244363" y="929750"/>
            <a:ext cx="2814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 ingreso de variables de salud</a:t>
            </a:r>
            <a:endParaRPr sz="1500">
              <a:solidFill>
                <a:srgbClr val="1D2B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03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F1EFE8"/>
                </a:solidFill>
                <a:latin typeface="Georgia"/>
                <a:ea typeface="Georgia"/>
                <a:cs typeface="Georgia"/>
                <a:sym typeface="Georgia"/>
              </a:rPr>
              <a:t>Dónde estamos hoy</a:t>
            </a:r>
            <a:endParaRPr sz="3600"/>
          </a:p>
        </p:txBody>
      </p:sp>
      <p:sp>
        <p:nvSpPr>
          <p:cNvPr id="197" name="Google Shape;197;p10"/>
          <p:cNvSpPr/>
          <p:nvPr/>
        </p:nvSpPr>
        <p:spPr>
          <a:xfrm>
            <a:off x="812800" y="1620521"/>
            <a:ext cx="10883392" cy="31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9E4E2"/>
              </a:buClr>
              <a:buSzPts val="1700"/>
              <a:buFont typeface="Trebuchet MS"/>
              <a:buNone/>
            </a:pPr>
            <a:r>
              <a:rPr b="0" i="0" lang="en-US" sz="1700" u="none" cap="none" strike="noStrike">
                <a:solidFill>
                  <a:srgbClr val="D9E4E2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de los 29 requisitos funcionales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15975" y="2219964"/>
            <a:ext cx="3380264" cy="1569085"/>
          </a:xfrm>
          <a:prstGeom prst="roundRect">
            <a:avLst>
              <a:gd fmla="val 6273" name="adj"/>
            </a:avLst>
          </a:prstGeom>
          <a:solidFill>
            <a:srgbClr val="183D49"/>
          </a:solidFill>
          <a:ln cap="flat" cmpd="sng" w="9525">
            <a:solidFill>
              <a:srgbClr val="2B56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1071880" y="2475867"/>
            <a:ext cx="295450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D0C6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8FD0C6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071880" y="3275967"/>
            <a:ext cx="295450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F1EFE8"/>
                </a:solidFill>
                <a:latin typeface="Trebuchet MS"/>
                <a:ea typeface="Trebuchet MS"/>
                <a:cs typeface="Trebuchet MS"/>
                <a:sym typeface="Trebuchet MS"/>
              </a:rPr>
              <a:t>Parcial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405789" y="2219964"/>
            <a:ext cx="3380343" cy="1569085"/>
          </a:xfrm>
          <a:prstGeom prst="roundRect">
            <a:avLst>
              <a:gd fmla="val 6273" name="adj"/>
            </a:avLst>
          </a:prstGeom>
          <a:solidFill>
            <a:srgbClr val="183D49"/>
          </a:solidFill>
          <a:ln cap="flat" cmpd="sng" w="9525">
            <a:solidFill>
              <a:srgbClr val="2B56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661694" y="2475867"/>
            <a:ext cx="2954589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B45A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F0B45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661694" y="3275967"/>
            <a:ext cx="295458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F1EFE8"/>
                </a:solidFill>
                <a:latin typeface="Trebuchet MS"/>
                <a:ea typeface="Trebuchet MS"/>
                <a:cs typeface="Trebuchet MS"/>
                <a:sym typeface="Trebuchet MS"/>
              </a:rPr>
              <a:t>En desarrollo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995682" y="2219964"/>
            <a:ext cx="3380343" cy="1569085"/>
          </a:xfrm>
          <a:prstGeom prst="roundRect">
            <a:avLst>
              <a:gd fmla="val 6273" name="adj"/>
            </a:avLst>
          </a:prstGeom>
          <a:solidFill>
            <a:srgbClr val="183D49"/>
          </a:solidFill>
          <a:ln cap="flat" cmpd="sng" w="9525">
            <a:solidFill>
              <a:srgbClr val="2B56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251587" y="2475867"/>
            <a:ext cx="2954589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F1EFE8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5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251587" y="3275967"/>
            <a:ext cx="295458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F1EFE8"/>
                </a:solidFill>
                <a:latin typeface="Trebuchet MS"/>
                <a:ea typeface="Trebuchet MS"/>
                <a:cs typeface="Trebuchet MS"/>
                <a:sym typeface="Trebuchet MS"/>
              </a:rPr>
              <a:t>Pendiente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12800" y="4097021"/>
            <a:ext cx="10883392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9E4E2"/>
              </a:buClr>
              <a:buSzPts val="1500"/>
              <a:buFont typeface="Trebuchet MS"/>
              <a:buNone/>
            </a:pPr>
            <a:r>
              <a:rPr b="0" i="0" lang="en-US" sz="1500" u="none" cap="none" strike="noStrike">
                <a:solidFill>
                  <a:srgbClr val="D9E4E2"/>
                </a:solidFill>
                <a:latin typeface="Trebuchet MS"/>
                <a:ea typeface="Trebuchet MS"/>
                <a:cs typeface="Trebuchet MS"/>
                <a:sym typeface="Trebuchet MS"/>
              </a:rPr>
              <a:t>Ya hay versión prototipo de inicio de sesión, registro de pacientes, prescripción y administración de medicamentos, observaciones y cierre de sesión.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12800" y="6238242"/>
            <a:ext cx="301142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5BA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9FB5BA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10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Evidencias y trabajo en equipo</a:t>
            </a:r>
            <a:endParaRPr sz="3600"/>
          </a:p>
        </p:txBody>
      </p:sp>
      <p:sp>
        <p:nvSpPr>
          <p:cNvPr id="215" name="Google Shape;215;p11"/>
          <p:cNvSpPr/>
          <p:nvPr/>
        </p:nvSpPr>
        <p:spPr>
          <a:xfrm>
            <a:off x="815975" y="1623704"/>
            <a:ext cx="5175300" cy="4282200"/>
          </a:xfrm>
          <a:prstGeom prst="roundRect">
            <a:avLst>
              <a:gd fmla="val 4369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1071880" y="1879600"/>
            <a:ext cx="4803343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13 documentos de respaldo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071880" y="2242821"/>
            <a:ext cx="4803343" cy="50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Gestión: acta de inicio, Carta Gantt, Product y Sprint Backlog.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071880" y="2811779"/>
            <a:ext cx="4803343" cy="50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Requisitos: especificación, historias de usuario, casos de uso.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071880" y="3380742"/>
            <a:ext cx="4916170" cy="26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Diseño: modelo de datos, UML, wireframes, arquitectura.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200775" y="1623704"/>
            <a:ext cx="5175300" cy="4282200"/>
          </a:xfrm>
          <a:prstGeom prst="roundRect">
            <a:avLst>
              <a:gd fmla="val 4369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456680" y="1879600"/>
            <a:ext cx="4803343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Reparto del trabajo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456680" y="2242821"/>
            <a:ext cx="4803343" cy="50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Andrés Saldívar: modelamiento de dato</a:t>
            </a:r>
            <a:r>
              <a:rPr lang="en-US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b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Giancarlo Trepiana: Diseño de interfaz.</a:t>
            </a:r>
            <a:endParaRPr>
              <a:solidFill>
                <a:srgbClr val="1D2B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386755" y="3260729"/>
            <a:ext cx="48033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Ambos: análisis, diseño de la solución, desarrollo, integración y pruebas.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12800" y="6238242"/>
            <a:ext cx="301142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11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3600"/>
              <a:buFont typeface="Georgia"/>
              <a:buNone/>
            </a:pPr>
            <a:r>
              <a:rPr b="0" i="0" lang="en-US" sz="3600">
                <a:solidFill>
                  <a:srgbClr val="1D2B2F"/>
                </a:solidFill>
                <a:latin typeface="Georgia"/>
                <a:ea typeface="Georgia"/>
                <a:cs typeface="Georgia"/>
                <a:sym typeface="Georgia"/>
              </a:rPr>
              <a:t>Próximos pasos</a:t>
            </a:r>
            <a:endParaRPr sz="3600"/>
          </a:p>
        </p:txBody>
      </p:sp>
      <p:sp>
        <p:nvSpPr>
          <p:cNvPr id="231" name="Google Shape;231;p12"/>
          <p:cNvSpPr/>
          <p:nvPr/>
        </p:nvSpPr>
        <p:spPr>
          <a:xfrm>
            <a:off x="815975" y="1623700"/>
            <a:ext cx="5561100" cy="3417900"/>
          </a:xfrm>
          <a:prstGeom prst="roundRect">
            <a:avLst>
              <a:gd fmla="val 3423" name="adj"/>
            </a:avLst>
          </a:prstGeom>
          <a:solidFill>
            <a:srgbClr val="FBFAF6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071880" y="1879600"/>
            <a:ext cx="4803343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8A7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F8A7D"/>
                </a:solidFill>
                <a:latin typeface="Trebuchet MS"/>
                <a:ea typeface="Trebuchet MS"/>
                <a:cs typeface="Trebuchet MS"/>
                <a:sym typeface="Trebuchet MS"/>
              </a:rPr>
              <a:t>Prioridad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143000" y="2242826"/>
            <a:ext cx="47247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Char char="•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Separar los dashboards según el rol y completar permisos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Char char="•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Reforzar la seguridad de la base de datos en todas las tablas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Char char="•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Ejecutar las pruebas pendientes y guardar evidencias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2F"/>
              </a:buClr>
              <a:buSzPts val="1500"/>
              <a:buFont typeface="Trebuchet MS"/>
              <a:buChar char="•"/>
            </a:pPr>
            <a:r>
              <a:rPr b="0" i="0" lang="en-US" sz="1500" u="none" cap="none" strike="noStrike">
                <a:solidFill>
                  <a:srgbClr val="1D2B2F"/>
                </a:solidFill>
                <a:latin typeface="Trebuchet MS"/>
                <a:ea typeface="Trebuchet MS"/>
                <a:cs typeface="Trebuchet MS"/>
                <a:sym typeface="Trebuchet MS"/>
              </a:rPr>
              <a:t>Probar el despliegue con Docker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12800" y="5170175"/>
            <a:ext cx="10883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Meta: cerrar el proyecto el 1 de diciembre de 2026 con los 3 roles operativos.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812800" y="6238242"/>
            <a:ext cx="301142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6569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566569"/>
                </a:solidFill>
                <a:latin typeface="Trebuchet MS"/>
                <a:ea typeface="Trebuchet MS"/>
                <a:cs typeface="Trebuchet MS"/>
                <a:sym typeface="Trebuchet MS"/>
              </a:rPr>
              <a:t>LinkCare · Avance del desarrollo · 12</a:t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nkCare — Avance del desarrollo">
  <a:themeElements>
    <a:clrScheme name="LinkCare — Avance del desarrollo">
      <a:dk1>
        <a:srgbClr val="1D2B2F"/>
      </a:dk1>
      <a:lt1>
        <a:srgbClr val="F5F3EE"/>
      </a:lt1>
      <a:dk2>
        <a:srgbClr val="535D5F"/>
      </a:dk2>
      <a:lt2>
        <a:srgbClr val="DFDFDB"/>
      </a:lt2>
      <a:accent1>
        <a:srgbClr val="1F8A7D"/>
      </a:accent1>
      <a:accent2>
        <a:srgbClr val="C97D12"/>
      </a:accent2>
      <a:accent3>
        <a:srgbClr val="183D49"/>
      </a:accent3>
      <a:accent4>
        <a:srgbClr val="8FD0C6"/>
      </a:accent4>
      <a:accent5>
        <a:srgbClr val="F0B45A"/>
      </a:accent5>
      <a:accent6>
        <a:srgbClr val="56656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nkCare — Avance del desarrollo">
  <a:themeElements>
    <a:clrScheme name="LinkCare — Avance del desarrollo">
      <a:dk1>
        <a:srgbClr val="1D2B2F"/>
      </a:dk1>
      <a:lt1>
        <a:srgbClr val="F5F3EE"/>
      </a:lt1>
      <a:dk2>
        <a:srgbClr val="535D5F"/>
      </a:dk2>
      <a:lt2>
        <a:srgbClr val="DFDFDB"/>
      </a:lt2>
      <a:accent1>
        <a:srgbClr val="1F8A7D"/>
      </a:accent1>
      <a:accent2>
        <a:srgbClr val="C97D12"/>
      </a:accent2>
      <a:accent3>
        <a:srgbClr val="183D49"/>
      </a:accent3>
      <a:accent4>
        <a:srgbClr val="8FD0C6"/>
      </a:accent4>
      <a:accent5>
        <a:srgbClr val="F0B45A"/>
      </a:accent5>
      <a:accent6>
        <a:srgbClr val="56656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2026-10-13T07:43:58Z</dcterms:created>
</cp:coreProperties>
</file>