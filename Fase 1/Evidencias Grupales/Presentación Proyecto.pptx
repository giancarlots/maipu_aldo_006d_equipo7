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g6zgvjac23LWZoZb0hh7EjDAf8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" name="Google Shape;31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3" name="Google Shape;37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7" name="Google Shape;38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8.png"/><Relationship Id="rId7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18.png"/><Relationship Id="rId6" Type="http://schemas.openxmlformats.org/officeDocument/2006/relationships/image" Target="../media/image23.png"/><Relationship Id="rId7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Relationship Id="rId4" Type="http://schemas.openxmlformats.org/officeDocument/2006/relationships/image" Target="../media/image29.png"/><Relationship Id="rId5" Type="http://schemas.openxmlformats.org/officeDocument/2006/relationships/image" Target="../media/image28.png"/><Relationship Id="rId6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3A4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024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10789920" y="4937760"/>
            <a:ext cx="2926080" cy="29260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40080" y="640080"/>
            <a:ext cx="777300" cy="7773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nkcare_ppt/icons/heartbeat.png" id="20" name="Google Shape;2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200" y="842200"/>
            <a:ext cx="373075" cy="3730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sp>
        <p:nvSpPr>
          <p:cNvPr id="21" name="Google Shape;21;p1"/>
          <p:cNvSpPr/>
          <p:nvPr/>
        </p:nvSpPr>
        <p:spPr>
          <a:xfrm>
            <a:off x="548645" y="3307618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Font typeface="Cambria"/>
              <a:buNone/>
            </a:pPr>
            <a:r>
              <a:rPr b="1" i="0" lang="en-US" sz="6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LinkCare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94365" y="4450640"/>
            <a:ext cx="8412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F3EF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D8F3EF"/>
                </a:solidFill>
                <a:latin typeface="Calibri"/>
                <a:ea typeface="Calibri"/>
                <a:cs typeface="Calibri"/>
                <a:sym typeface="Calibri"/>
              </a:rPr>
              <a:t>Gestión centralizada del cuidado de pacientes para familiares, cuidadores y equipo médico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23;p1"/>
          <p:cNvCxnSpPr/>
          <p:nvPr/>
        </p:nvCxnSpPr>
        <p:spPr>
          <a:xfrm>
            <a:off x="548640" y="5074920"/>
            <a:ext cx="7772400" cy="0"/>
          </a:xfrm>
          <a:prstGeom prst="straightConnector1">
            <a:avLst/>
          </a:prstGeom>
          <a:noFill/>
          <a:ln cap="flat" cmpd="sng" w="12700">
            <a:solidFill>
              <a:srgbClr val="0B5E6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1"/>
          <p:cNvSpPr/>
          <p:nvPr/>
        </p:nvSpPr>
        <p:spPr>
          <a:xfrm>
            <a:off x="1417315" y="5243625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Estudiantes: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Giancarlo Trepiana  ·  Andrés Saldivar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645915" y="5563715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Carrera: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Ingeniería en Informática</a:t>
            </a: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BFA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ÍNDICE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48640" y="749808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B2C"/>
                </a:solidFill>
                <a:latin typeface="Cambria"/>
                <a:ea typeface="Cambria"/>
                <a:cs typeface="Cambria"/>
                <a:sym typeface="Cambria"/>
              </a:rPr>
              <a:t>Contenidos de la presentación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40080" y="1801368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40080" y="18013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170432" y="176479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40080" y="2368296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40080" y="236829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170432" y="23317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40080" y="2935224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40080" y="293522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170432" y="2898648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Problemática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40080" y="3502152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40080" y="350215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170432" y="3465576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40080" y="4069080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40080" y="40690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170432" y="4032504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Metodología / Plan / Roles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40080" y="4636008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40080" y="463600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170432" y="459943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Mapa Tecnológico / Arquitectura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309360" y="1801368"/>
            <a:ext cx="384048" cy="38404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309360" y="18013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839712" y="176479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Competencias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309360" y="2368296"/>
            <a:ext cx="384048" cy="38404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309360" y="236829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839712" y="23317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Riesgos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6309360" y="2935224"/>
            <a:ext cx="384048" cy="38404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6309360" y="293522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839712" y="2898648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Seguridad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309360" y="3502152"/>
            <a:ext cx="384048" cy="38404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6309360" y="350215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6839712" y="3465576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Modelo de Negocio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6309360" y="4069080"/>
            <a:ext cx="384048" cy="38404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6309360" y="40690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6839712" y="4032504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Mockup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6309360" y="4636008"/>
            <a:ext cx="384048" cy="38404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6309360" y="463600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6839712" y="459943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Conclusión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E6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E6F"/>
                </a:solidFill>
                <a:latin typeface="Calibri"/>
                <a:ea typeface="Calibri"/>
                <a:cs typeface="Calibri"/>
                <a:sym typeface="Calibri"/>
              </a:rPr>
              <a:t>LinkCare  |  Proyecto APT —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E6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E6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01 · PRESENTACIÓN GENERAL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B2B2C"/>
                </a:solidFill>
                <a:latin typeface="Cambria"/>
                <a:ea typeface="Cambria"/>
                <a:cs typeface="Cambria"/>
                <a:sym typeface="Cambria"/>
              </a:rPr>
              <a:t>Introducción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548640" y="2651763"/>
            <a:ext cx="60351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LinkCare es una aplicación orientada al monitoreo y gestión del cuidado de personas postradas o que requieren cuidado personal en el hogar. Centraliza en un solo lugar la información del paciente: medicamentos, horarios, anotaciones y variables de salud.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7040880" y="169164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nkcare_ppt/icons/pills.png" id="80" name="Google Shape;8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3526" y="183428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"/>
          <p:cNvSpPr/>
          <p:nvPr/>
        </p:nvSpPr>
        <p:spPr>
          <a:xfrm>
            <a:off x="7772400" y="169164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Gestión de medicamentos y horarios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7040880" y="256032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nkcare_ppt/icons/clipboard.png" id="83" name="Google Shape;8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2676" y="270296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"/>
          <p:cNvSpPr/>
          <p:nvPr/>
        </p:nvSpPr>
        <p:spPr>
          <a:xfrm>
            <a:off x="7772400" y="256032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Anotaciones y variables de salud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7040880" y="342900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nkcare_ppt/icons/qrcode.png" id="86" name="Google Shape;8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94726" y="357164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/>
          <p:nvPr/>
        </p:nvSpPr>
        <p:spPr>
          <a:xfrm>
            <a:off x="7772400" y="342900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Acceso rápido mediante código QR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7040880" y="429768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nkcare_ppt/icons/microphone.png" id="89" name="Google Shape;89;p3"/>
          <p:cNvPicPr preferRelativeResize="0"/>
          <p:nvPr/>
        </p:nvPicPr>
        <p:blipFill rotWithShape="1">
          <a:blip r:embed="rId6">
            <a:alphaModFix/>
          </a:blip>
          <a:srcRect b="0" l="-3720" r="3720" t="0"/>
          <a:stretch/>
        </p:blipFill>
        <p:spPr>
          <a:xfrm>
            <a:off x="7215676" y="444032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"/>
          <p:cNvSpPr/>
          <p:nvPr/>
        </p:nvSpPr>
        <p:spPr>
          <a:xfrm>
            <a:off x="7772400" y="429768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Registro de información por voz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E6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E6F"/>
                </a:solidFill>
                <a:latin typeface="Calibri"/>
                <a:ea typeface="Calibri"/>
                <a:cs typeface="Calibri"/>
                <a:sym typeface="Calibri"/>
              </a:rPr>
              <a:t>LinkCare  |  Proyecto APT —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E6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E6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02 · SITUACIÓN ACTUAL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B2B2C"/>
                </a:solidFill>
                <a:latin typeface="Cambria"/>
                <a:ea typeface="Cambria"/>
                <a:cs typeface="Cambria"/>
                <a:sym typeface="Cambria"/>
              </a:rPr>
              <a:t>Contexto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48640" y="1691640"/>
            <a:ext cx="822960" cy="8229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nkcare_ppt/icons/home.png" id="101" name="Google Shape;10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610" y="190561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"/>
          <p:cNvSpPr/>
          <p:nvPr/>
        </p:nvSpPr>
        <p:spPr>
          <a:xfrm>
            <a:off x="1645920" y="1691640"/>
            <a:ext cx="9875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El cuidado de pacientes postrados o dependientes suele desarrollarse en el hogar, con la participación simultánea de familiares, cuidadores y personal médico que visita periódicamente al paciente.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548640" y="2880360"/>
            <a:ext cx="822960" cy="8229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nkcare_ppt/icons/usermd.png" id="104" name="Google Shape;10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4285" y="309433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"/>
          <p:cNvSpPr/>
          <p:nvPr/>
        </p:nvSpPr>
        <p:spPr>
          <a:xfrm>
            <a:off x="1645920" y="2880360"/>
            <a:ext cx="9875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La información relevante —medicamentos administrados, horarios, indicaciones médicas y evolución del paciente— suele quedar dispersa entre cuadernos, mensajes y la memoria de cada persona involucrada.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548640" y="4069080"/>
            <a:ext cx="822960" cy="8229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nkcare_ppt/icons/users.png" id="107" name="Google Shape;10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622" y="428305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/>
          <p:nvPr/>
        </p:nvSpPr>
        <p:spPr>
          <a:xfrm>
            <a:off x="1645920" y="4069080"/>
            <a:ext cx="9875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Cada actor del cuidado (familia, cuidador, equipo médico) necesita acceder a datos actualizados del paciente en el momento oportuno, sin depender de traspasos verbales o registros manuales dispersos.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E6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E6F"/>
                </a:solidFill>
                <a:latin typeface="Calibri"/>
                <a:ea typeface="Calibri"/>
                <a:cs typeface="Calibri"/>
                <a:sym typeface="Calibri"/>
              </a:rPr>
              <a:t>LinkCare  |  Proyecto APT —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E6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E6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7111328">
            <a:off x="1076756" y="4338864"/>
            <a:ext cx="254513" cy="147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3A40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03 · EL PROBLEMA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548640" y="749808"/>
            <a:ext cx="9144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Problemática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548650" y="1481326"/>
            <a:ext cx="2651700" cy="4553700"/>
          </a:xfrm>
          <a:prstGeom prst="roundRect">
            <a:avLst>
              <a:gd fmla="val 4138" name="adj"/>
            </a:avLst>
          </a:prstGeom>
          <a:solidFill>
            <a:srgbClr val="024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1508766" y="1881653"/>
            <a:ext cx="731400" cy="8007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nkcare_ppt/icons/exclamation.png" id="121" name="Google Shape;12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961" y="2089823"/>
            <a:ext cx="351129" cy="38431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/>
          <p:nvPr/>
        </p:nvSpPr>
        <p:spPr>
          <a:xfrm>
            <a:off x="731529" y="2882472"/>
            <a:ext cx="2286000" cy="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Información dispersa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777249" y="3482963"/>
            <a:ext cx="2194500" cy="23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E9E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E9E4"/>
                </a:solidFill>
                <a:latin typeface="Calibri"/>
                <a:ea typeface="Calibri"/>
                <a:cs typeface="Calibri"/>
                <a:sym typeface="Calibri"/>
              </a:rPr>
              <a:t>Datos del paciente repartidos entre cuadernos, mensajes y memoria de cada cuidador.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3429000" y="1481351"/>
            <a:ext cx="2651700" cy="4553700"/>
          </a:xfrm>
          <a:prstGeom prst="roundRect">
            <a:avLst>
              <a:gd fmla="val 4138" name="adj"/>
            </a:avLst>
          </a:prstGeom>
          <a:solidFill>
            <a:srgbClr val="024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4389116" y="1881676"/>
            <a:ext cx="731400" cy="8007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nkcare_ppt/icons/bug.png" id="126" name="Google Shape;12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9311" y="2089845"/>
            <a:ext cx="351129" cy="384313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/>
          <p:nvPr/>
        </p:nvSpPr>
        <p:spPr>
          <a:xfrm>
            <a:off x="3611879" y="2882489"/>
            <a:ext cx="2286000" cy="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Riesgo de errores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3657599" y="3482977"/>
            <a:ext cx="2194500" cy="23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E9E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E9E4"/>
                </a:solidFill>
                <a:latin typeface="Calibri"/>
                <a:ea typeface="Calibri"/>
                <a:cs typeface="Calibri"/>
                <a:sym typeface="Calibri"/>
              </a:rPr>
              <a:t>La falta de un registro único aumenta el riesgo de omitir o duplicar medicamentos.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6309350" y="1481351"/>
            <a:ext cx="2651700" cy="4553700"/>
          </a:xfrm>
          <a:prstGeom prst="roundRect">
            <a:avLst>
              <a:gd fmla="val 4138" name="adj"/>
            </a:avLst>
          </a:prstGeom>
          <a:solidFill>
            <a:srgbClr val="024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7269475" y="1881676"/>
            <a:ext cx="731400" cy="8007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nkcare_ppt/icons/clock.png" id="131" name="Google Shape;13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59672" y="2089845"/>
            <a:ext cx="351132" cy="384313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"/>
          <p:cNvSpPr/>
          <p:nvPr/>
        </p:nvSpPr>
        <p:spPr>
          <a:xfrm>
            <a:off x="6492231" y="2882489"/>
            <a:ext cx="2286000" cy="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Pérdida de tiempo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6537951" y="3482977"/>
            <a:ext cx="2194500" cy="23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E9E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E9E4"/>
                </a:solidFill>
                <a:latin typeface="Calibri"/>
                <a:ea typeface="Calibri"/>
                <a:cs typeface="Calibri"/>
                <a:sym typeface="Calibri"/>
              </a:rPr>
              <a:t>Familiares y equipo médico deben reconstruir el historial en cada visita.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9189725" y="1481351"/>
            <a:ext cx="2651700" cy="4553700"/>
          </a:xfrm>
          <a:prstGeom prst="roundRect">
            <a:avLst>
              <a:gd fmla="val 4138" name="adj"/>
            </a:avLst>
          </a:prstGeom>
          <a:solidFill>
            <a:srgbClr val="024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10149841" y="1881676"/>
            <a:ext cx="731400" cy="8007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nkcare_ppt/icons/users.png" id="136" name="Google Shape;13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40036" y="2089845"/>
            <a:ext cx="351129" cy="38431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/>
          <p:nvPr/>
        </p:nvSpPr>
        <p:spPr>
          <a:xfrm>
            <a:off x="9372604" y="2882489"/>
            <a:ext cx="2286000" cy="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Baja visibilidad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9418324" y="3482977"/>
            <a:ext cx="2194500" cy="23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E9E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E9E4"/>
                </a:solidFill>
                <a:latin typeface="Calibri"/>
                <a:ea typeface="Calibri"/>
                <a:cs typeface="Calibri"/>
                <a:sym typeface="Calibri"/>
              </a:rPr>
              <a:t>Difícil coordinación entre familiares, cuidadores y personal de salud.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457200" y="6473952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EDE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FEDE8"/>
                </a:solidFill>
                <a:latin typeface="Calibri"/>
                <a:ea typeface="Calibri"/>
                <a:cs typeface="Calibri"/>
                <a:sym typeface="Calibri"/>
              </a:rPr>
              <a:t>LinkCare  |  Proyecto APT —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EDE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FEDE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940378">
            <a:off x="10662226" y="2041606"/>
            <a:ext cx="107123" cy="283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04 · PROPUESTA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B2B2C"/>
                </a:solidFill>
                <a:latin typeface="Cambria"/>
                <a:ea typeface="Cambria"/>
                <a:cs typeface="Cambria"/>
                <a:sym typeface="Cambria"/>
              </a:rPr>
              <a:t>Solución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548640" y="1691640"/>
            <a:ext cx="5394960" cy="4480560"/>
          </a:xfrm>
          <a:prstGeom prst="roundRect">
            <a:avLst>
              <a:gd fmla="val 2041" name="adj"/>
            </a:avLst>
          </a:prstGeom>
          <a:solidFill>
            <a:srgbClr val="F5F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868680" y="1965960"/>
            <a:ext cx="685800" cy="6858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nkcare_ppt/icons/lightbulb.png" id="151" name="Google Shape;151;p6"/>
          <p:cNvPicPr preferRelativeResize="0"/>
          <p:nvPr/>
        </p:nvPicPr>
        <p:blipFill rotWithShape="1">
          <a:blip r:embed="rId3">
            <a:alphaModFix/>
          </a:blip>
          <a:srcRect b="0" l="0" r="30168" t="0"/>
          <a:stretch/>
        </p:blipFill>
        <p:spPr>
          <a:xfrm>
            <a:off x="1096634" y="2144263"/>
            <a:ext cx="229875" cy="3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6"/>
          <p:cNvSpPr/>
          <p:nvPr/>
        </p:nvSpPr>
        <p:spPr>
          <a:xfrm>
            <a:off x="1691640" y="201168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B2B2C"/>
                </a:solidFill>
                <a:latin typeface="Cambria"/>
                <a:ea typeface="Cambria"/>
                <a:cs typeface="Cambria"/>
                <a:sym typeface="Cambria"/>
              </a:rPr>
              <a:t>LinkCare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868680" y="2788920"/>
            <a:ext cx="47548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Una aplicación que centraliza en un mismo lugar la información del paciente medicamentos, anotaciones y variables de salud</a:t>
            </a:r>
            <a:r>
              <a:rPr lang="en-US" sz="1450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4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para que familiares, cuidadores y equipo médico accedan a datos actualizados desde cualquier lugar.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868680" y="4434840"/>
            <a:ext cx="47548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A6E6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5A6E6F"/>
                </a:solidFill>
                <a:latin typeface="Calibri"/>
                <a:ea typeface="Calibri"/>
                <a:cs typeface="Calibri"/>
                <a:sym typeface="Calibri"/>
              </a:rPr>
              <a:t>Incorpora acceso mediante código QR para que el personal médico consulte la información durante sus visitas, y un módulo de registro por voz para que los cuidadores ingresen datos de forma rápida y manos libres.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6309360" y="1737360"/>
            <a:ext cx="5349240" cy="960120"/>
          </a:xfrm>
          <a:prstGeom prst="roundRect">
            <a:avLst>
              <a:gd fmla="val 9524" name="adj"/>
            </a:avLst>
          </a:prstGeom>
          <a:solidFill>
            <a:srgbClr val="F5F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6537960" y="1920240"/>
            <a:ext cx="594360" cy="5943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nkcare_ppt/icons/clipboard.png" id="157" name="Google Shape;157;p6"/>
          <p:cNvPicPr preferRelativeResize="0"/>
          <p:nvPr/>
        </p:nvPicPr>
        <p:blipFill rotWithShape="1">
          <a:blip r:embed="rId4">
            <a:alphaModFix/>
          </a:blip>
          <a:srcRect b="0" l="0" r="19426" t="0"/>
          <a:stretch/>
        </p:blipFill>
        <p:spPr>
          <a:xfrm>
            <a:off x="6720199" y="2070200"/>
            <a:ext cx="229875" cy="28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6"/>
          <p:cNvSpPr/>
          <p:nvPr/>
        </p:nvSpPr>
        <p:spPr>
          <a:xfrm>
            <a:off x="7315200" y="1737360"/>
            <a:ext cx="4206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Ficha única del paciente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6309360" y="2852928"/>
            <a:ext cx="5349240" cy="960120"/>
          </a:xfrm>
          <a:prstGeom prst="roundRect">
            <a:avLst>
              <a:gd fmla="val 9524" name="adj"/>
            </a:avLst>
          </a:prstGeom>
          <a:solidFill>
            <a:srgbClr val="F5F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6537960" y="3035808"/>
            <a:ext cx="594360" cy="5943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nkcare_ppt/icons/pills.png" id="161" name="Google Shape;16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92494" y="3190342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6"/>
          <p:cNvSpPr/>
          <p:nvPr/>
        </p:nvSpPr>
        <p:spPr>
          <a:xfrm>
            <a:off x="7315200" y="2852928"/>
            <a:ext cx="4206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Control de medicamentos y horarios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6309360" y="3968496"/>
            <a:ext cx="5349240" cy="960120"/>
          </a:xfrm>
          <a:prstGeom prst="roundRect">
            <a:avLst>
              <a:gd fmla="val 9524" name="adj"/>
            </a:avLst>
          </a:prstGeom>
          <a:solidFill>
            <a:srgbClr val="F5F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6537960" y="4151376"/>
            <a:ext cx="594360" cy="5943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nkcare_ppt/icons/qrcode.png" id="165" name="Google Shape;165;p6"/>
          <p:cNvPicPr preferRelativeResize="0"/>
          <p:nvPr/>
        </p:nvPicPr>
        <p:blipFill rotWithShape="1">
          <a:blip r:embed="rId6">
            <a:alphaModFix/>
          </a:blip>
          <a:srcRect b="0" l="0" r="9099" t="0"/>
          <a:stretch/>
        </p:blipFill>
        <p:spPr>
          <a:xfrm>
            <a:off x="6705474" y="4305913"/>
            <a:ext cx="259325" cy="28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6"/>
          <p:cNvSpPr/>
          <p:nvPr/>
        </p:nvSpPr>
        <p:spPr>
          <a:xfrm>
            <a:off x="7315200" y="3968496"/>
            <a:ext cx="4206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Acceso QR para equipo médico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6309360" y="5084064"/>
            <a:ext cx="5349240" cy="960120"/>
          </a:xfrm>
          <a:prstGeom prst="roundRect">
            <a:avLst>
              <a:gd fmla="val 9524" name="adj"/>
            </a:avLst>
          </a:prstGeom>
          <a:solidFill>
            <a:srgbClr val="F5F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6537960" y="5266944"/>
            <a:ext cx="594360" cy="5943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nkcare_ppt/icons/microphone.png" id="169" name="Google Shape;169;p6"/>
          <p:cNvPicPr preferRelativeResize="0"/>
          <p:nvPr/>
        </p:nvPicPr>
        <p:blipFill rotWithShape="1">
          <a:blip r:embed="rId7">
            <a:alphaModFix/>
          </a:blip>
          <a:srcRect b="0" l="0" r="28952" t="0"/>
          <a:stretch/>
        </p:blipFill>
        <p:spPr>
          <a:xfrm>
            <a:off x="6733786" y="5431575"/>
            <a:ext cx="202700" cy="28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6"/>
          <p:cNvSpPr/>
          <p:nvPr/>
        </p:nvSpPr>
        <p:spPr>
          <a:xfrm>
            <a:off x="7315200" y="5084064"/>
            <a:ext cx="4206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Registro de voz para cuidadores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E6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E6F"/>
                </a:solidFill>
                <a:latin typeface="Calibri"/>
                <a:ea typeface="Calibri"/>
                <a:cs typeface="Calibri"/>
                <a:sym typeface="Calibri"/>
              </a:rPr>
              <a:t>LinkCare  |  Proyecto APT —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E6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E6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05 · CÓMO TRABAJAMOS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B2B2C"/>
                </a:solidFill>
                <a:latin typeface="Cambria"/>
                <a:ea typeface="Cambria"/>
                <a:cs typeface="Cambria"/>
                <a:sym typeface="Cambria"/>
              </a:rPr>
              <a:t>Metodología, Plan y Roles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Metodología ágil por etapas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548649" y="2011675"/>
            <a:ext cx="1868100" cy="685800"/>
          </a:xfrm>
          <a:prstGeom prst="roundRect">
            <a:avLst>
              <a:gd fmla="val 13333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548649" y="2011675"/>
            <a:ext cx="186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inkcare_ppt/icons/arrowright.png" id="183" name="Google Shape;18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2958" y="222198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7"/>
          <p:cNvSpPr/>
          <p:nvPr/>
        </p:nvSpPr>
        <p:spPr>
          <a:xfrm>
            <a:off x="2724894" y="2011675"/>
            <a:ext cx="1885800" cy="685800"/>
          </a:xfrm>
          <a:prstGeom prst="roundRect">
            <a:avLst>
              <a:gd fmla="val 13333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2724801" y="2007100"/>
            <a:ext cx="1886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Diseño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inkcare_ppt/icons/arrowright.png" id="186" name="Google Shape;18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8018" y="222198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7"/>
          <p:cNvSpPr/>
          <p:nvPr/>
        </p:nvSpPr>
        <p:spPr>
          <a:xfrm>
            <a:off x="4901176" y="2011675"/>
            <a:ext cx="1886100" cy="685800"/>
          </a:xfrm>
          <a:prstGeom prst="roundRect">
            <a:avLst>
              <a:gd fmla="val 13333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4901176" y="2011675"/>
            <a:ext cx="1886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inkcare_ppt/icons/arrowright.png" id="189" name="Google Shape;18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04352" y="222198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7"/>
          <p:cNvSpPr/>
          <p:nvPr/>
        </p:nvSpPr>
        <p:spPr>
          <a:xfrm>
            <a:off x="7077450" y="2011675"/>
            <a:ext cx="1868100" cy="685800"/>
          </a:xfrm>
          <a:prstGeom prst="roundRect">
            <a:avLst>
              <a:gd fmla="val 13333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7077450" y="2011675"/>
            <a:ext cx="1868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Pruebas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inkcare_ppt/icons/arrowright.png" id="192" name="Google Shape;19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1624" y="2212961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7"/>
          <p:cNvSpPr/>
          <p:nvPr/>
        </p:nvSpPr>
        <p:spPr>
          <a:xfrm>
            <a:off x="9253728" y="2011680"/>
            <a:ext cx="2011680" cy="685800"/>
          </a:xfrm>
          <a:prstGeom prst="roundRect">
            <a:avLst>
              <a:gd fmla="val 13333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9253728" y="2011680"/>
            <a:ext cx="2011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Documentación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548640" y="2926080"/>
            <a:ext cx="10881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E6F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5A6E6F"/>
                </a:solidFill>
                <a:latin typeface="Calibri"/>
                <a:ea typeface="Calibri"/>
                <a:cs typeface="Calibri"/>
                <a:sym typeface="Calibri"/>
              </a:rPr>
              <a:t>Trabajo organizado en etapas de análisis, diseño, desarrollo, pruebas y documentación, priorizando funcionalidades principales y realizando pruebas continuas durante cada etapa.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548640" y="36576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Roles del equipo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548640" y="4023360"/>
            <a:ext cx="5349240" cy="2148840"/>
          </a:xfrm>
          <a:prstGeom prst="roundRect">
            <a:avLst>
              <a:gd fmla="val 4255" name="adj"/>
            </a:avLst>
          </a:prstGeom>
          <a:solidFill>
            <a:srgbClr val="F5F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777240" y="425196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nkcare_ppt/icons/users.png" id="199" name="Google Shape;19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9886" y="439460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7"/>
          <p:cNvSpPr/>
          <p:nvPr/>
        </p:nvSpPr>
        <p:spPr>
          <a:xfrm>
            <a:off x="1463040" y="425196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Giancarlo Trepiana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777240" y="4892040"/>
            <a:ext cx="4892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E6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E6F"/>
                </a:solidFill>
                <a:latin typeface="Calibri"/>
                <a:ea typeface="Calibri"/>
                <a:cs typeface="Calibri"/>
                <a:sym typeface="Calibri"/>
              </a:rPr>
              <a:t>Desarrollo, implementación y pruebas de la aplicación. Participa en integración y validación final junto a Andrés.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6309360" y="4023360"/>
            <a:ext cx="5349240" cy="2148840"/>
          </a:xfrm>
          <a:prstGeom prst="roundRect">
            <a:avLst>
              <a:gd fmla="val 4255" name="adj"/>
            </a:avLst>
          </a:prstGeom>
          <a:solidFill>
            <a:srgbClr val="F5F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6537960" y="4251960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nkcare_ppt/icons/users.png" id="204" name="Google Shape;20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80606" y="439460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7"/>
          <p:cNvSpPr/>
          <p:nvPr/>
        </p:nvSpPr>
        <p:spPr>
          <a:xfrm>
            <a:off x="7223760" y="425196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Andrés Saldivar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6537960" y="4892040"/>
            <a:ext cx="4892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E6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E6F"/>
                </a:solidFill>
                <a:latin typeface="Calibri"/>
                <a:ea typeface="Calibri"/>
                <a:cs typeface="Calibri"/>
                <a:sym typeface="Calibri"/>
              </a:rPr>
              <a:t>Análisis de requerimientos, modelamiento de datos, documentación y pruebas. Participa en integración y validación final junto a Giancarlo.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E6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E6F"/>
                </a:solidFill>
                <a:latin typeface="Calibri"/>
                <a:ea typeface="Calibri"/>
                <a:cs typeface="Calibri"/>
                <a:sym typeface="Calibri"/>
              </a:rPr>
              <a:t>LinkCare  |  Proyecto APT —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E6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E6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74035">
            <a:off x="1163086" y="4399176"/>
            <a:ext cx="98554" cy="162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21900" y="4408087"/>
            <a:ext cx="97200" cy="14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06 · DISEÑO TÉCNICO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B2B2C"/>
                </a:solidFill>
                <a:latin typeface="Cambria"/>
                <a:ea typeface="Cambria"/>
                <a:cs typeface="Cambria"/>
                <a:sym typeface="Cambria"/>
              </a:rPr>
              <a:t>Mapa Tecnológico / Arquitectura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548640" y="1554480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E6F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A6E6F"/>
                </a:solidFill>
                <a:latin typeface="Calibri"/>
                <a:ea typeface="Calibri"/>
                <a:cs typeface="Calibri"/>
                <a:sym typeface="Calibri"/>
              </a:rPr>
              <a:t>Arquitectura cliente-servidor en tres capas, con integraciones de acceso QR y registro por voz.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640080" y="2240280"/>
            <a:ext cx="2880360" cy="3108960"/>
          </a:xfrm>
          <a:prstGeom prst="roundRect">
            <a:avLst>
              <a:gd fmla="val 3810" name="adj"/>
            </a:avLst>
          </a:prstGeom>
          <a:solidFill>
            <a:srgbClr val="F5FBFA"/>
          </a:solidFill>
          <a:ln cap="flat" cmpd="sng" w="1587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1691640" y="2514600"/>
            <a:ext cx="777240" cy="7772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nkcare_ppt/icons/mobile.png" id="221" name="Google Shape;221;p8"/>
          <p:cNvPicPr preferRelativeResize="0"/>
          <p:nvPr/>
        </p:nvPicPr>
        <p:blipFill rotWithShape="1">
          <a:blip r:embed="rId3">
            <a:alphaModFix/>
          </a:blip>
          <a:srcRect b="0" l="0" r="37119" t="0"/>
          <a:stretch/>
        </p:blipFill>
        <p:spPr>
          <a:xfrm>
            <a:off x="1962961" y="2716675"/>
            <a:ext cx="234600" cy="3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8"/>
          <p:cNvSpPr/>
          <p:nvPr/>
        </p:nvSpPr>
        <p:spPr>
          <a:xfrm>
            <a:off x="640080" y="3429000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1" i="0" sz="1600" u="none" cap="none" strike="noStrike">
              <a:solidFill>
                <a:srgbClr val="1B2B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600"/>
              <a:buFont typeface="Calibri"/>
              <a:buNone/>
            </a:pPr>
            <a:r>
              <a:rPr b="1" lang="en-US" sz="11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React </a:t>
            </a:r>
            <a:r>
              <a:rPr b="1" lang="en-US" sz="11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Native</a:t>
            </a:r>
            <a:endParaRPr b="1" sz="1600">
              <a:solidFill>
                <a:srgbClr val="1B2B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868680" y="3840480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E6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E6F"/>
                </a:solidFill>
                <a:latin typeface="Calibri"/>
                <a:ea typeface="Calibri"/>
                <a:cs typeface="Calibri"/>
                <a:sym typeface="Calibri"/>
              </a:rPr>
              <a:t>App móvil / web para pacientes, familiares y cuidadores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868680" y="4526280"/>
            <a:ext cx="2423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E6F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A6E6F"/>
                </a:solidFill>
                <a:latin typeface="Calibri"/>
                <a:ea typeface="Calibri"/>
                <a:cs typeface="Calibri"/>
                <a:sym typeface="Calibri"/>
              </a:rPr>
              <a:t>Acceso QR para equipo médico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inkcare_ppt/icons/arrowright.png" id="225" name="Google Shape;22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93592" y="363016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8"/>
          <p:cNvSpPr/>
          <p:nvPr/>
        </p:nvSpPr>
        <p:spPr>
          <a:xfrm>
            <a:off x="3977640" y="2240280"/>
            <a:ext cx="2880360" cy="3108960"/>
          </a:xfrm>
          <a:prstGeom prst="roundRect">
            <a:avLst>
              <a:gd fmla="val 3810" name="adj"/>
            </a:avLst>
          </a:prstGeom>
          <a:solidFill>
            <a:srgbClr val="F5FBFA"/>
          </a:solidFill>
          <a:ln cap="flat" cmpd="sng" w="15875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5029200" y="2514600"/>
            <a:ext cx="777240" cy="7772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nkcare_ppt/icons/server.png" id="228" name="Google Shape;22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1282" y="2716682"/>
            <a:ext cx="373075" cy="3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8"/>
          <p:cNvSpPr/>
          <p:nvPr/>
        </p:nvSpPr>
        <p:spPr>
          <a:xfrm>
            <a:off x="3977640" y="3429000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Backend / API</a:t>
            </a:r>
            <a:endParaRPr b="1" i="0" sz="1600" u="none" cap="none" strike="noStrike">
              <a:solidFill>
                <a:srgbClr val="1B2B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600"/>
              <a:buFont typeface="Calibri"/>
              <a:buNone/>
            </a:pPr>
            <a:r>
              <a:rPr b="1" lang="en-US" sz="11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Node.js</a:t>
            </a:r>
            <a:endParaRPr b="1" sz="1600">
              <a:solidFill>
                <a:srgbClr val="1B2B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4206240" y="3840480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E6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E6F"/>
                </a:solidFill>
                <a:latin typeface="Calibri"/>
                <a:ea typeface="Calibri"/>
                <a:cs typeface="Calibri"/>
                <a:sym typeface="Calibri"/>
              </a:rPr>
              <a:t>Lógica de negocio, autenticación y gestión de roles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206240" y="4526280"/>
            <a:ext cx="2423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E6F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A6E6F"/>
                </a:solidFill>
                <a:latin typeface="Calibri"/>
                <a:ea typeface="Calibri"/>
                <a:cs typeface="Calibri"/>
                <a:sym typeface="Calibri"/>
              </a:rPr>
              <a:t>Módulo de registro por voz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inkcare_ppt/icons/arrowright.png" id="232" name="Google Shape;23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31152" y="363016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8"/>
          <p:cNvSpPr/>
          <p:nvPr/>
        </p:nvSpPr>
        <p:spPr>
          <a:xfrm>
            <a:off x="7315200" y="2240280"/>
            <a:ext cx="2880360" cy="3108960"/>
          </a:xfrm>
          <a:prstGeom prst="roundRect">
            <a:avLst>
              <a:gd fmla="val 3810" name="adj"/>
            </a:avLst>
          </a:prstGeom>
          <a:solidFill>
            <a:srgbClr val="F5FBFA"/>
          </a:solidFill>
          <a:ln cap="flat" cmpd="sng" w="15875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8366760" y="2514600"/>
            <a:ext cx="777240" cy="7772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nkcare_ppt/icons/database.png" id="235" name="Google Shape;235;p8"/>
          <p:cNvPicPr preferRelativeResize="0"/>
          <p:nvPr/>
        </p:nvPicPr>
        <p:blipFill rotWithShape="1">
          <a:blip r:embed="rId6">
            <a:alphaModFix/>
          </a:blip>
          <a:srcRect b="0" l="0" r="11770" t="0"/>
          <a:stretch/>
        </p:blipFill>
        <p:spPr>
          <a:xfrm>
            <a:off x="8590787" y="2716675"/>
            <a:ext cx="329175" cy="3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8"/>
          <p:cNvSpPr/>
          <p:nvPr/>
        </p:nvSpPr>
        <p:spPr>
          <a:xfrm>
            <a:off x="7315200" y="3429000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b="1" i="0" sz="1600" u="none" cap="none" strike="noStrike">
              <a:solidFill>
                <a:srgbClr val="1B2B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600"/>
              <a:buFont typeface="Calibri"/>
              <a:buNone/>
            </a:pPr>
            <a:r>
              <a:rPr b="1" lang="en-US" sz="11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Supabase</a:t>
            </a:r>
            <a:endParaRPr b="1" sz="1100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7543800" y="3840480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E6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E6F"/>
                </a:solidFill>
                <a:latin typeface="Calibri"/>
                <a:ea typeface="Calibri"/>
                <a:cs typeface="Calibri"/>
                <a:sym typeface="Calibri"/>
              </a:rPr>
              <a:t>Pacientes, medicamentos, anotaciones y variables de salud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7543800" y="4526280"/>
            <a:ext cx="2423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E6F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A6E6F"/>
                </a:solidFill>
                <a:latin typeface="Calibri"/>
                <a:ea typeface="Calibri"/>
                <a:cs typeface="Calibri"/>
                <a:sym typeface="Calibri"/>
              </a:rPr>
              <a:t>Modelo relacional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E6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E6F"/>
                </a:solidFill>
                <a:latin typeface="Calibri"/>
                <a:ea typeface="Calibri"/>
                <a:cs typeface="Calibri"/>
                <a:sym typeface="Calibri"/>
              </a:rPr>
              <a:t>LinkCare  |  Proyecto APT —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E6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E6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07 · PERFIL DE EGRESO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B2B2C"/>
                </a:solidFill>
                <a:latin typeface="Cambria"/>
                <a:ea typeface="Cambria"/>
                <a:cs typeface="Cambria"/>
                <a:sym typeface="Cambria"/>
              </a:rPr>
              <a:t>Competencias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548640" y="1828800"/>
            <a:ext cx="2606040" cy="4206240"/>
          </a:xfrm>
          <a:prstGeom prst="roundRect">
            <a:avLst>
              <a:gd fmla="val 4211" name="adj"/>
            </a:avLst>
          </a:prstGeom>
          <a:solidFill>
            <a:srgbClr val="F5F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548640" y="1828800"/>
            <a:ext cx="2606040" cy="502920"/>
          </a:xfrm>
          <a:prstGeom prst="roundRect">
            <a:avLst>
              <a:gd fmla="val 21818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548640" y="2084832"/>
            <a:ext cx="2606040" cy="2468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548640" y="182880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1508760" y="2560320"/>
            <a:ext cx="685800" cy="6858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nkcare_ppt/icons/usermd.png" id="253" name="Google Shape;253;p9"/>
          <p:cNvPicPr preferRelativeResize="0"/>
          <p:nvPr/>
        </p:nvPicPr>
        <p:blipFill rotWithShape="1">
          <a:blip r:embed="rId3">
            <a:alphaModFix/>
          </a:blip>
          <a:srcRect b="0" l="0" r="10698" t="0"/>
          <a:stretch/>
        </p:blipFill>
        <p:spPr>
          <a:xfrm>
            <a:off x="1704662" y="2738625"/>
            <a:ext cx="293975" cy="3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9"/>
          <p:cNvSpPr/>
          <p:nvPr/>
        </p:nvSpPr>
        <p:spPr>
          <a:xfrm>
            <a:off x="685800" y="342900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Pruebas y validación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731520" y="4023360"/>
            <a:ext cx="224028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E6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E6F"/>
                </a:solidFill>
                <a:latin typeface="Calibri"/>
                <a:ea typeface="Calibri"/>
                <a:cs typeface="Calibri"/>
                <a:sym typeface="Calibri"/>
              </a:rPr>
              <a:t>Ejecutar pruebas funcionales y validar el correcto funcionamiento de la aplicación.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3383280" y="1828800"/>
            <a:ext cx="2606040" cy="4206240"/>
          </a:xfrm>
          <a:prstGeom prst="roundRect">
            <a:avLst>
              <a:gd fmla="val 4211" name="adj"/>
            </a:avLst>
          </a:prstGeom>
          <a:solidFill>
            <a:srgbClr val="F5F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3383280" y="1828800"/>
            <a:ext cx="2606040" cy="502920"/>
          </a:xfrm>
          <a:prstGeom prst="roundRect">
            <a:avLst>
              <a:gd fmla="val 21818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3383280" y="2084832"/>
            <a:ext cx="2606040" cy="2468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3383280" y="182880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4343400" y="2560320"/>
            <a:ext cx="685800" cy="6858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nkcare_ppt/icons/bullseye.png" id="261" name="Google Shape;26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1708" y="27386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9"/>
          <p:cNvSpPr/>
          <p:nvPr/>
        </p:nvSpPr>
        <p:spPr>
          <a:xfrm>
            <a:off x="3520440" y="342900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Gestión de proyectos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3566160" y="4023360"/>
            <a:ext cx="224028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E6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E6F"/>
                </a:solidFill>
                <a:latin typeface="Calibri"/>
                <a:ea typeface="Calibri"/>
                <a:cs typeface="Calibri"/>
                <a:sym typeface="Calibri"/>
              </a:rPr>
              <a:t>Planificar, tomar decisiones y organizar el trabajo según los requerimientos del proyecto.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6217920" y="1828800"/>
            <a:ext cx="2606040" cy="4206240"/>
          </a:xfrm>
          <a:prstGeom prst="roundRect">
            <a:avLst>
              <a:gd fmla="val 4211" name="adj"/>
            </a:avLst>
          </a:prstGeom>
          <a:solidFill>
            <a:srgbClr val="F5F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6217920" y="1828800"/>
            <a:ext cx="2606040" cy="502920"/>
          </a:xfrm>
          <a:prstGeom prst="roundRect">
            <a:avLst>
              <a:gd fmla="val 21818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6217920" y="2084832"/>
            <a:ext cx="2606040" cy="2468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6217920" y="182880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7178040" y="2560320"/>
            <a:ext cx="685800" cy="6858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nkcare_ppt/icons/database.png" id="269" name="Google Shape;26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56348" y="27386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9"/>
          <p:cNvSpPr/>
          <p:nvPr/>
        </p:nvSpPr>
        <p:spPr>
          <a:xfrm>
            <a:off x="6355080" y="342900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Modelamiento de datos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6400800" y="4023360"/>
            <a:ext cx="224028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E6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E6F"/>
                </a:solidFill>
                <a:latin typeface="Calibri"/>
                <a:ea typeface="Calibri"/>
                <a:cs typeface="Calibri"/>
                <a:sym typeface="Calibri"/>
              </a:rPr>
              <a:t>Diseñar y organizar la información de pacientes, medicamentos y anotaciones.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9052560" y="1828800"/>
            <a:ext cx="2606040" cy="4206240"/>
          </a:xfrm>
          <a:prstGeom prst="roundRect">
            <a:avLst>
              <a:gd fmla="val 4211" name="adj"/>
            </a:avLst>
          </a:prstGeom>
          <a:solidFill>
            <a:srgbClr val="F5F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9052560" y="1828800"/>
            <a:ext cx="2606040" cy="502920"/>
          </a:xfrm>
          <a:prstGeom prst="roundRect">
            <a:avLst>
              <a:gd fmla="val 21818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9052560" y="2084832"/>
            <a:ext cx="2606040" cy="2468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9052560" y="182880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10012680" y="2560320"/>
            <a:ext cx="685800" cy="6858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nkcare_ppt/icons/mobile.png" id="277" name="Google Shape;277;p9"/>
          <p:cNvPicPr preferRelativeResize="0"/>
          <p:nvPr/>
        </p:nvPicPr>
        <p:blipFill rotWithShape="1">
          <a:blip r:embed="rId6">
            <a:alphaModFix/>
          </a:blip>
          <a:srcRect b="0" l="0" r="37367" t="0"/>
          <a:stretch/>
        </p:blipFill>
        <p:spPr>
          <a:xfrm>
            <a:off x="10252483" y="2715775"/>
            <a:ext cx="206175" cy="3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9"/>
          <p:cNvSpPr/>
          <p:nvPr/>
        </p:nvSpPr>
        <p:spPr>
          <a:xfrm>
            <a:off x="9189720" y="342900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Desarrollo de software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9235440" y="4023360"/>
            <a:ext cx="224028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E6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E6F"/>
                </a:solidFill>
                <a:latin typeface="Calibri"/>
                <a:ea typeface="Calibri"/>
                <a:cs typeface="Calibri"/>
                <a:sym typeface="Calibri"/>
              </a:rPr>
              <a:t>Diseñar, desarrollar y mantener las funcionalidades e interfaz de la solución.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E6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E6F"/>
                </a:solidFill>
                <a:latin typeface="Calibri"/>
                <a:ea typeface="Calibri"/>
                <a:cs typeface="Calibri"/>
                <a:sym typeface="Calibri"/>
              </a:rPr>
              <a:t>LinkCare  |  Proyecto APT —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E6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E6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08 · GESTIÓN DE RIESGOS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B2B2C"/>
                </a:solidFill>
                <a:latin typeface="Cambria"/>
                <a:ea typeface="Cambria"/>
                <a:cs typeface="Cambria"/>
                <a:sym typeface="Cambria"/>
              </a:rPr>
              <a:t>Riesgos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548640" y="1691640"/>
            <a:ext cx="11091672" cy="502920"/>
          </a:xfrm>
          <a:prstGeom prst="rect">
            <a:avLst/>
          </a:prstGeom>
          <a:solidFill>
            <a:srgbClr val="013A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548640" y="169164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Riesgo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4846320" y="169164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7955280" y="1691640"/>
            <a:ext cx="36850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Mitigación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548640" y="2194560"/>
            <a:ext cx="11091672" cy="841248"/>
          </a:xfrm>
          <a:prstGeom prst="rect">
            <a:avLst/>
          </a:prstGeom>
          <a:solidFill>
            <a:srgbClr val="F5FBFA"/>
          </a:solidFill>
          <a:ln cap="flat" cmpd="sng" w="9525">
            <a:solidFill>
              <a:srgbClr val="E3EF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594360" y="2194560"/>
            <a:ext cx="397764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Falta de tiempo frente a la carga académica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4892040" y="2194560"/>
            <a:ext cx="278892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Retraso en entregables de cada fase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8001000" y="2194560"/>
            <a:ext cx="3547872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Planificación por etapas y priorización de funcionalidades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548640" y="3035808"/>
            <a:ext cx="11091672" cy="8412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3EF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594360" y="3035808"/>
            <a:ext cx="397764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Cambios en los requerimientos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4892040" y="3035808"/>
            <a:ext cx="278892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Reprocesos en diseño o desarrollo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8001000" y="3035808"/>
            <a:ext cx="3547872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Validación temprana con el docente y registro de cambios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548640" y="3877056"/>
            <a:ext cx="11091672" cy="841248"/>
          </a:xfrm>
          <a:prstGeom prst="rect">
            <a:avLst/>
          </a:prstGeom>
          <a:solidFill>
            <a:srgbClr val="F5FBFA"/>
          </a:solidFill>
          <a:ln cap="flat" cmpd="sng" w="9525">
            <a:solidFill>
              <a:srgbClr val="E3EF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594360" y="3877056"/>
            <a:ext cx="397764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Problemas técnicos en el desarrollo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4892040" y="3877056"/>
            <a:ext cx="278892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Retraso en la integración del sistema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8001000" y="3877056"/>
            <a:ext cx="3547872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Pruebas continuas durante cada etapa del proyecto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548640" y="4718304"/>
            <a:ext cx="11091672" cy="8412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3EF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594360" y="4718304"/>
            <a:ext cx="397764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Pérdida o filtración de datos sensibles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4892040" y="4718304"/>
            <a:ext cx="278892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Afecta la confianza y seguridad del paciente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8001000" y="4718304"/>
            <a:ext cx="3547872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RLS por rol, cifrado TLS/AES-256 y respaldos automáticos en Supabase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E6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E6F"/>
                </a:solidFill>
                <a:latin typeface="Calibri"/>
                <a:ea typeface="Calibri"/>
                <a:cs typeface="Calibri"/>
                <a:sym typeface="Calibri"/>
              </a:rPr>
              <a:t>LinkCare  |  Proyecto APT —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E6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E6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3A40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09 · PROTECCIÓN DE 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548640" y="749808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Seguridad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548640" y="1762470"/>
            <a:ext cx="2651700" cy="4160400"/>
          </a:xfrm>
          <a:prstGeom prst="roundRect">
            <a:avLst>
              <a:gd fmla="val 4138" name="adj"/>
            </a:avLst>
          </a:prstGeom>
          <a:solidFill>
            <a:srgbClr val="024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1508760" y="2128230"/>
            <a:ext cx="731400" cy="7314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nkcare_ppt/icons/lock.png" id="320" name="Google Shape;32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5880" y="2318425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1"/>
          <p:cNvSpPr/>
          <p:nvPr/>
        </p:nvSpPr>
        <p:spPr>
          <a:xfrm>
            <a:off x="731520" y="3042630"/>
            <a:ext cx="2286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Autenticación y roles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777240" y="3591270"/>
            <a:ext cx="2194500" cy="21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E9E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E9E4"/>
                </a:solidFill>
                <a:latin typeface="Calibri"/>
                <a:ea typeface="Calibri"/>
                <a:cs typeface="Calibri"/>
                <a:sym typeface="Calibri"/>
              </a:rPr>
              <a:t>Supabase Auth gestiona el login con JWT, y políticas de Row Level Security en PostgreSQL restringen los datos que cada familiar, cuidador o médico puede ver según su rol.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3429000" y="1762470"/>
            <a:ext cx="2651700" cy="4160400"/>
          </a:xfrm>
          <a:prstGeom prst="roundRect">
            <a:avLst>
              <a:gd fmla="val 4138" name="adj"/>
            </a:avLst>
          </a:prstGeom>
          <a:solidFill>
            <a:srgbClr val="024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4389120" y="2128230"/>
            <a:ext cx="731400" cy="7314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nkcare_ppt/icons/shield.png" id="325" name="Google Shape;32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9315" y="2318425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1"/>
          <p:cNvSpPr/>
          <p:nvPr/>
        </p:nvSpPr>
        <p:spPr>
          <a:xfrm>
            <a:off x="3611880" y="3042630"/>
            <a:ext cx="2286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Cifrado de la información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3657600" y="3591270"/>
            <a:ext cx="2194500" cy="21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E9E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E9E4"/>
                </a:solidFill>
                <a:latin typeface="Calibri"/>
                <a:ea typeface="Calibri"/>
                <a:cs typeface="Calibri"/>
                <a:sym typeface="Calibri"/>
              </a:rPr>
              <a:t>Toda comunicación viaja cifrada por HTTPS/TLS entre la app y la API en Express. Los datos se almacenan cifrados en reposo (AES-256, nativo de Supabase) y las contraseñas se protegen con bcrypt.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6309360" y="1762470"/>
            <a:ext cx="2651700" cy="4160400"/>
          </a:xfrm>
          <a:prstGeom prst="roundRect">
            <a:avLst>
              <a:gd fmla="val 4138" name="adj"/>
            </a:avLst>
          </a:prstGeom>
          <a:solidFill>
            <a:srgbClr val="024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7269480" y="2128230"/>
            <a:ext cx="731400" cy="7314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nkcare_ppt/icons/qrcode.png" id="330" name="Google Shape;33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59675" y="2318425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1"/>
          <p:cNvSpPr/>
          <p:nvPr/>
        </p:nvSpPr>
        <p:spPr>
          <a:xfrm>
            <a:off x="6492240" y="3042630"/>
            <a:ext cx="2286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Acceso QR con expiración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6537960" y="3591270"/>
            <a:ext cx="2194500" cy="21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E9E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E9E4"/>
                </a:solidFill>
                <a:latin typeface="Calibri"/>
                <a:ea typeface="Calibri"/>
                <a:cs typeface="Calibri"/>
                <a:sym typeface="Calibri"/>
              </a:rPr>
              <a:t>El código QR contiene un token JWT firmado, de un solo uso y con expiración corta (15 minutos), validado por el backend antes de exponer la ficha del paciente.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9189720" y="1762470"/>
            <a:ext cx="2651700" cy="4160400"/>
          </a:xfrm>
          <a:prstGeom prst="roundRect">
            <a:avLst>
              <a:gd fmla="val 4138" name="adj"/>
            </a:avLst>
          </a:prstGeom>
          <a:solidFill>
            <a:srgbClr val="024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10149840" y="2128230"/>
            <a:ext cx="731400" cy="7314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nkcare_ppt/icons/clipboard.png" id="335" name="Google Shape;33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3760" y="2318363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1"/>
          <p:cNvSpPr/>
          <p:nvPr/>
        </p:nvSpPr>
        <p:spPr>
          <a:xfrm>
            <a:off x="9372600" y="3042630"/>
            <a:ext cx="2286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Cumplimiento normativo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9418320" y="3591270"/>
            <a:ext cx="2194500" cy="21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E9E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E9E4"/>
                </a:solidFill>
                <a:latin typeface="Calibri"/>
                <a:ea typeface="Calibri"/>
                <a:cs typeface="Calibri"/>
                <a:sym typeface="Calibri"/>
              </a:rPr>
              <a:t>Alineado a la Ley N.º 19.628: se registran auditorías de acceso, se aplica minimización de datos y Supabase realiza respaldos automáticos con recuperación a un punto en el tiempo.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EDE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FEDE8"/>
                </a:solidFill>
                <a:latin typeface="Calibri"/>
                <a:ea typeface="Calibri"/>
                <a:cs typeface="Calibri"/>
                <a:sym typeface="Calibri"/>
              </a:rPr>
              <a:t>LinkCare  |  Proyecto APT —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EDE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FEDE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10 · SOSTENIBILIDAD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B2B2C"/>
                </a:solidFill>
                <a:latin typeface="Cambria"/>
                <a:ea typeface="Cambria"/>
                <a:cs typeface="Cambria"/>
                <a:sym typeface="Cambria"/>
              </a:rPr>
              <a:t>Modelo de Negocio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548640" y="1691640"/>
            <a:ext cx="5349240" cy="2148840"/>
          </a:xfrm>
          <a:prstGeom prst="roundRect">
            <a:avLst>
              <a:gd fmla="val 4255" name="adj"/>
            </a:avLst>
          </a:prstGeom>
          <a:solidFill>
            <a:srgbClr val="F5F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777240" y="1920240"/>
            <a:ext cx="594360" cy="5943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nkcare_ppt/icons/users.png" id="349" name="Google Shape;34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1774" y="207477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2"/>
          <p:cNvSpPr/>
          <p:nvPr/>
        </p:nvSpPr>
        <p:spPr>
          <a:xfrm>
            <a:off x="1508760" y="1920240"/>
            <a:ext cx="4160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Segmento de clientes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822960" y="2606040"/>
            <a:ext cx="4800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E6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A6E6F"/>
                </a:solidFill>
                <a:latin typeface="Calibri"/>
                <a:ea typeface="Calibri"/>
                <a:cs typeface="Calibri"/>
                <a:sym typeface="Calibri"/>
              </a:rPr>
              <a:t>Familias a cargo de un paciente dependiente, cuidadores independientes y centros/instituciones de cuidado domiciliario.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6172200" y="1691640"/>
            <a:ext cx="5349240" cy="2148840"/>
          </a:xfrm>
          <a:prstGeom prst="roundRect">
            <a:avLst>
              <a:gd fmla="val 4255" name="adj"/>
            </a:avLst>
          </a:prstGeom>
          <a:solidFill>
            <a:srgbClr val="F5F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6400800" y="1920240"/>
            <a:ext cx="594360" cy="5943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nkcare_ppt/icons/lightbulb.png" id="354" name="Google Shape;354;p12"/>
          <p:cNvPicPr preferRelativeResize="0"/>
          <p:nvPr/>
        </p:nvPicPr>
        <p:blipFill rotWithShape="1">
          <a:blip r:embed="rId4">
            <a:alphaModFix/>
          </a:blip>
          <a:srcRect b="0" l="0" r="31054" t="0"/>
          <a:stretch/>
        </p:blipFill>
        <p:spPr>
          <a:xfrm>
            <a:off x="6599628" y="2074775"/>
            <a:ext cx="196700" cy="2853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2"/>
          <p:cNvSpPr/>
          <p:nvPr/>
        </p:nvSpPr>
        <p:spPr>
          <a:xfrm>
            <a:off x="7132320" y="1920240"/>
            <a:ext cx="4160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Propuesta de valor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6446520" y="2606040"/>
            <a:ext cx="4800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E6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A6E6F"/>
                </a:solidFill>
                <a:latin typeface="Calibri"/>
                <a:ea typeface="Calibri"/>
                <a:cs typeface="Calibri"/>
                <a:sym typeface="Calibri"/>
              </a:rPr>
              <a:t>Centralización de la información del paciente en un solo lugar, con acceso QR y registro de voz que ahorran tiempo y reducen errores.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548640" y="4069080"/>
            <a:ext cx="5349240" cy="2148840"/>
          </a:xfrm>
          <a:prstGeom prst="roundRect">
            <a:avLst>
              <a:gd fmla="val 4255" name="adj"/>
            </a:avLst>
          </a:prstGeom>
          <a:solidFill>
            <a:srgbClr val="F5F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777240" y="4297680"/>
            <a:ext cx="594360" cy="5943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nkcare_ppt/icons/mobile.png" id="359" name="Google Shape;359;p12"/>
          <p:cNvPicPr preferRelativeResize="0"/>
          <p:nvPr/>
        </p:nvPicPr>
        <p:blipFill rotWithShape="1">
          <a:blip r:embed="rId5">
            <a:alphaModFix/>
          </a:blip>
          <a:srcRect b="10" l="0" r="36407" t="0"/>
          <a:stretch/>
        </p:blipFill>
        <p:spPr>
          <a:xfrm>
            <a:off x="983712" y="4452225"/>
            <a:ext cx="181425" cy="28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2"/>
          <p:cNvSpPr/>
          <p:nvPr/>
        </p:nvSpPr>
        <p:spPr>
          <a:xfrm>
            <a:off x="1508760" y="4297680"/>
            <a:ext cx="4160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Canales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2"/>
          <p:cNvSpPr/>
          <p:nvPr/>
        </p:nvSpPr>
        <p:spPr>
          <a:xfrm>
            <a:off x="822960" y="4983480"/>
            <a:ext cx="4800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E6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A6E6F"/>
                </a:solidFill>
                <a:latin typeface="Calibri"/>
                <a:ea typeface="Calibri"/>
                <a:cs typeface="Calibri"/>
                <a:sym typeface="Calibri"/>
              </a:rPr>
              <a:t>Aplicación móvil y web de descarga directa, difusión a través de centros de salud y agencias de cuidadores.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6172200" y="4069080"/>
            <a:ext cx="5349240" cy="2148840"/>
          </a:xfrm>
          <a:prstGeom prst="roundRect">
            <a:avLst>
              <a:gd fmla="val 4255" name="adj"/>
            </a:avLst>
          </a:prstGeom>
          <a:solidFill>
            <a:srgbClr val="F5F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6400800" y="4297680"/>
            <a:ext cx="594360" cy="5943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nkcare_ppt/icons/chartline.png" id="364" name="Google Shape;364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55334" y="44522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2"/>
          <p:cNvSpPr/>
          <p:nvPr/>
        </p:nvSpPr>
        <p:spPr>
          <a:xfrm>
            <a:off x="7132320" y="4297680"/>
            <a:ext cx="4160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Fuentes de ingreso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6446520" y="4983480"/>
            <a:ext cx="4800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E6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A6E6F"/>
                </a:solidFill>
                <a:latin typeface="Calibri"/>
                <a:ea typeface="Calibri"/>
                <a:cs typeface="Calibri"/>
                <a:sym typeface="Calibri"/>
              </a:rPr>
              <a:t>Suscripción mensual para familias (freemium) y licenciamiento a instituciones de salud y agencias de cuidado.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E6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E6F"/>
                </a:solidFill>
                <a:latin typeface="Calibri"/>
                <a:ea typeface="Calibri"/>
                <a:cs typeface="Calibri"/>
                <a:sym typeface="Calibri"/>
              </a:rPr>
              <a:t>LinkCare  |  Proyecto APT —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E6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E6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9" name="Google Shape;369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1778292">
            <a:off x="1182173" y="2118176"/>
            <a:ext cx="97400" cy="13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BFA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3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11 · VISTA PRELIMINAR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548640" y="616493"/>
            <a:ext cx="10515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B2B2C"/>
                </a:solidFill>
                <a:latin typeface="Cambria"/>
                <a:ea typeface="Cambria"/>
                <a:cs typeface="Cambria"/>
                <a:sym typeface="Cambria"/>
              </a:rPr>
              <a:t>Mockup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548640" y="1135960"/>
            <a:ext cx="10881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E6F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5A6E6F"/>
                </a:solidFill>
                <a:latin typeface="Calibri"/>
                <a:ea typeface="Calibri"/>
                <a:cs typeface="Calibri"/>
                <a:sym typeface="Calibri"/>
              </a:rPr>
              <a:t>Propuesta preliminar de pantallas principales de la aplicación</a:t>
            </a:r>
            <a:r>
              <a:rPr i="1" lang="en-US" sz="1350">
                <a:solidFill>
                  <a:srgbClr val="5A6E6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E6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E6F"/>
                </a:solidFill>
                <a:latin typeface="Calibri"/>
                <a:ea typeface="Calibri"/>
                <a:cs typeface="Calibri"/>
                <a:sym typeface="Calibri"/>
              </a:rPr>
              <a:t>LinkCare  |  Proyecto APT —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E6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E6F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0" name="Google Shape;38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150" y="1606325"/>
            <a:ext cx="2284575" cy="4833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4100" y="1606325"/>
            <a:ext cx="2332926" cy="4833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15400" y="1606325"/>
            <a:ext cx="2332926" cy="4833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44375" y="1606325"/>
            <a:ext cx="2332926" cy="4833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3A40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4"/>
          <p:cNvSpPr/>
          <p:nvPr/>
        </p:nvSpPr>
        <p:spPr>
          <a:xfrm>
            <a:off x="10002520" y="-1325860"/>
            <a:ext cx="3840600" cy="3840600"/>
          </a:xfrm>
          <a:prstGeom prst="ellipse">
            <a:avLst/>
          </a:prstGeom>
          <a:solidFill>
            <a:srgbClr val="024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548640" y="502920"/>
            <a:ext cx="731520" cy="7315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nkcare_ppt/icons/check.png" id="391" name="Google Shape;3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835" y="693115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4"/>
          <p:cNvSpPr/>
          <p:nvPr/>
        </p:nvSpPr>
        <p:spPr>
          <a:xfrm>
            <a:off x="1508760" y="5669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12 · CIERRE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1463040" y="841248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Conclusión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548640" y="182880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F6F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E8F6F3"/>
                </a:solidFill>
                <a:latin typeface="Calibri"/>
                <a:ea typeface="Calibri"/>
                <a:cs typeface="Calibri"/>
                <a:sym typeface="Calibri"/>
              </a:rPr>
              <a:t>LinkCare responde a una necesidad concreta del cuidado domiciliario: centralizar y mantener actualizada la información de pacientes que hoy se pierde entre distintos actores y registros manuales.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798598" y="2992900"/>
            <a:ext cx="115800" cy="1215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4"/>
          <p:cNvSpPr/>
          <p:nvPr/>
        </p:nvSpPr>
        <p:spPr>
          <a:xfrm>
            <a:off x="883925" y="2788983"/>
            <a:ext cx="10424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Aporta valor real a familiares, cuidadores y equipo médico al reducir la pérdida de información.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4"/>
          <p:cNvSpPr/>
          <p:nvPr/>
        </p:nvSpPr>
        <p:spPr>
          <a:xfrm>
            <a:off x="798598" y="3756835"/>
            <a:ext cx="115800" cy="1215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914400" y="3566160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Permite aplicar de forma integrada las competencias C1, C2, C3 y C4 del perfil de egreso.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798600" y="4534115"/>
            <a:ext cx="115800" cy="1215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4"/>
          <p:cNvSpPr/>
          <p:nvPr/>
        </p:nvSpPr>
        <p:spPr>
          <a:xfrm>
            <a:off x="914400" y="4343400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 factible de desarrollar durante el semestre con las herramientas y conocimientos disponibles.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4"/>
          <p:cNvSpPr/>
          <p:nvPr/>
        </p:nvSpPr>
        <p:spPr>
          <a:xfrm>
            <a:off x="798599" y="5311398"/>
            <a:ext cx="115800" cy="1215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4"/>
          <p:cNvSpPr/>
          <p:nvPr/>
        </p:nvSpPr>
        <p:spPr>
          <a:xfrm>
            <a:off x="914400" y="5120640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Próximo paso: avanzar a la Fase 2 con el modelamiento de datos y el prototipo de interfaz.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EDE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FEDE8"/>
                </a:solidFill>
                <a:latin typeface="Calibri"/>
                <a:ea typeface="Calibri"/>
                <a:cs typeface="Calibri"/>
                <a:sym typeface="Calibri"/>
              </a:rPr>
              <a:t>LinkCare  |  Proyecto APT —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EDE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FEDE8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2026-08-31T05:59:36Z</dcterms:created>
  <dc:creator>PptxGenJS</dc:creator>
</cp:coreProperties>
</file>